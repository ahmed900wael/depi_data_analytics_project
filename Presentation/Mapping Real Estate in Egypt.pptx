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9" r:id="rId20"/>
    <p:sldId id="280" r:id="rId21"/>
  </p:sldIdLst>
  <p:sldSz cx="18288000" cy="10287000"/>
  <p:notesSz cx="6858000" cy="9144000"/>
  <p:embeddedFontLst>
    <p:embeddedFont>
      <p:font typeface="Poppins" panose="00000500000000000000" pitchFamily="2" charset="0"/>
      <p:regular r:id="rId22"/>
    </p:embeddedFont>
    <p:embeddedFont>
      <p:font typeface="Poppins Bold" panose="020B0604020202020204" charset="0"/>
      <p:regular r:id="rId23"/>
    </p:embeddedFont>
    <p:embeddedFont>
      <p:font typeface="Poppins Semi-Bold" panose="020B0604020202020204" charset="0"/>
      <p:regular r:id="rId24"/>
    </p:embeddedFont>
    <p:embeddedFont>
      <p:font typeface="Poppins Ultra-Bold Italics" panose="020B0604020202020204" charset="0"/>
      <p:regular r:id="rId25"/>
    </p:embeddedFont>
    <p:embeddedFont>
      <p:font typeface="Roboto Condensed" panose="02000000000000000000" pitchFamily="2" charset="0"/>
      <p:regular r:id="rId26"/>
    </p:embeddedFont>
    <p:embeddedFont>
      <p:font typeface="Roboto Condensed Bold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22" autoAdjust="0"/>
  </p:normalViewPr>
  <p:slideViewPr>
    <p:cSldViewPr>
      <p:cViewPr varScale="1">
        <p:scale>
          <a:sx n="73" d="100"/>
          <a:sy n="73" d="100"/>
        </p:scale>
        <p:origin x="24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22.pn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8478" b="-68478"/>
            </a:stretch>
          </a:blipFill>
        </p:spPr>
        <p:txBody>
          <a:bodyPr/>
          <a:lstStyle/>
          <a:p>
            <a:endParaRPr lang="ar-EG"/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7780228" y="8966518"/>
            <a:ext cx="6673203" cy="3915648"/>
            <a:chOff x="0" y="0"/>
            <a:chExt cx="822466" cy="4826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22466" cy="482600"/>
            </a:xfrm>
            <a:custGeom>
              <a:avLst/>
              <a:gdLst/>
              <a:ahLst/>
              <a:cxnLst/>
              <a:rect l="l" t="t" r="r" b="b"/>
              <a:pathLst>
                <a:path w="822466" h="482600">
                  <a:moveTo>
                    <a:pt x="584341" y="0"/>
                  </a:moveTo>
                  <a:lnTo>
                    <a:pt x="822466" y="238125"/>
                  </a:lnTo>
                  <a:lnTo>
                    <a:pt x="822466" y="244475"/>
                  </a:lnTo>
                  <a:lnTo>
                    <a:pt x="584341" y="482600"/>
                  </a:lnTo>
                  <a:lnTo>
                    <a:pt x="238125" y="482600"/>
                  </a:lnTo>
                  <a:lnTo>
                    <a:pt x="0" y="2444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84341" y="0"/>
                  </a:ln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3500" y="-60325"/>
              <a:ext cx="695466" cy="479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175395" y="9457892"/>
            <a:ext cx="7047151" cy="2342350"/>
            <a:chOff x="0" y="0"/>
            <a:chExt cx="2038200" cy="67746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38200" cy="677462"/>
            </a:xfrm>
            <a:custGeom>
              <a:avLst/>
              <a:gdLst/>
              <a:ahLst/>
              <a:cxnLst/>
              <a:rect l="l" t="t" r="r" b="b"/>
              <a:pathLst>
                <a:path w="2038200" h="677462">
                  <a:moveTo>
                    <a:pt x="1800075" y="0"/>
                  </a:moveTo>
                  <a:lnTo>
                    <a:pt x="2038200" y="238125"/>
                  </a:lnTo>
                  <a:lnTo>
                    <a:pt x="2038200" y="439337"/>
                  </a:lnTo>
                  <a:lnTo>
                    <a:pt x="1800075" y="677462"/>
                  </a:lnTo>
                  <a:lnTo>
                    <a:pt x="238125" y="677462"/>
                  </a:lnTo>
                  <a:lnTo>
                    <a:pt x="0" y="439337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1800075" y="0"/>
                  </a:lnTo>
                  <a:close/>
                </a:path>
              </a:pathLst>
            </a:custGeom>
            <a:solidFill>
              <a:srgbClr val="03459D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3500" y="-60325"/>
              <a:ext cx="1911200" cy="674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419730" y="5019675"/>
            <a:ext cx="3226165" cy="5374534"/>
            <a:chOff x="0" y="0"/>
            <a:chExt cx="812800" cy="13540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1354060"/>
            </a:xfrm>
            <a:custGeom>
              <a:avLst/>
              <a:gdLst/>
              <a:ahLst/>
              <a:cxnLst/>
              <a:rect l="l" t="t" r="r" b="b"/>
              <a:pathLst>
                <a:path w="812800" h="135406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1115935"/>
                  </a:lnTo>
                  <a:lnTo>
                    <a:pt x="574675" y="1354060"/>
                  </a:lnTo>
                  <a:lnTo>
                    <a:pt x="238125" y="1354060"/>
                  </a:lnTo>
                  <a:lnTo>
                    <a:pt x="0" y="111593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500" y="-60325"/>
              <a:ext cx="685800" cy="13508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5400000">
            <a:off x="-1967953" y="-5540742"/>
            <a:ext cx="9844576" cy="10206712"/>
            <a:chOff x="0" y="0"/>
            <a:chExt cx="1132415" cy="117407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32415" cy="1174071"/>
            </a:xfrm>
            <a:custGeom>
              <a:avLst/>
              <a:gdLst/>
              <a:ahLst/>
              <a:cxnLst/>
              <a:rect l="l" t="t" r="r" b="b"/>
              <a:pathLst>
                <a:path w="1132415" h="1174071">
                  <a:moveTo>
                    <a:pt x="894290" y="0"/>
                  </a:moveTo>
                  <a:lnTo>
                    <a:pt x="1132415" y="238125"/>
                  </a:lnTo>
                  <a:lnTo>
                    <a:pt x="1132415" y="935946"/>
                  </a:lnTo>
                  <a:lnTo>
                    <a:pt x="894290" y="1174071"/>
                  </a:lnTo>
                  <a:lnTo>
                    <a:pt x="238125" y="1174071"/>
                  </a:lnTo>
                  <a:lnTo>
                    <a:pt x="0" y="935946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894290" y="0"/>
                  </a:ln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500" y="-60325"/>
              <a:ext cx="1005415" cy="11708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5400000">
            <a:off x="6276181" y="-6456949"/>
            <a:ext cx="7122767" cy="12039127"/>
            <a:chOff x="0" y="0"/>
            <a:chExt cx="482600" cy="81570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2600" cy="815706"/>
            </a:xfrm>
            <a:custGeom>
              <a:avLst/>
              <a:gdLst/>
              <a:ahLst/>
              <a:cxnLst/>
              <a:rect l="l" t="t" r="r" b="b"/>
              <a:pathLst>
                <a:path w="482600" h="815706">
                  <a:moveTo>
                    <a:pt x="244475" y="0"/>
                  </a:moveTo>
                  <a:lnTo>
                    <a:pt x="482600" y="238125"/>
                  </a:lnTo>
                  <a:lnTo>
                    <a:pt x="482600" y="577581"/>
                  </a:lnTo>
                  <a:lnTo>
                    <a:pt x="244475" y="815706"/>
                  </a:lnTo>
                  <a:lnTo>
                    <a:pt x="238125" y="815706"/>
                  </a:lnTo>
                  <a:lnTo>
                    <a:pt x="0" y="577581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244475" y="0"/>
                  </a:lnTo>
                  <a:close/>
                </a:path>
              </a:pathLst>
            </a:custGeom>
            <a:solidFill>
              <a:srgbClr val="03459D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500" y="-60325"/>
              <a:ext cx="355600" cy="812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2000717" y="8339317"/>
            <a:ext cx="1309923" cy="1309923"/>
          </a:xfrm>
          <a:custGeom>
            <a:avLst/>
            <a:gdLst/>
            <a:ahLst/>
            <a:cxnLst/>
            <a:rect l="l" t="t" r="r" b="b"/>
            <a:pathLst>
              <a:path w="1309923" h="1309923">
                <a:moveTo>
                  <a:pt x="0" y="0"/>
                </a:moveTo>
                <a:lnTo>
                  <a:pt x="1309923" y="0"/>
                </a:lnTo>
                <a:lnTo>
                  <a:pt x="1309923" y="1309923"/>
                </a:lnTo>
                <a:lnTo>
                  <a:pt x="0" y="13099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5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ar-EG"/>
          </a:p>
        </p:txBody>
      </p:sp>
      <p:sp>
        <p:nvSpPr>
          <p:cNvPr id="19" name="Freeform 19"/>
          <p:cNvSpPr/>
          <p:nvPr/>
        </p:nvSpPr>
        <p:spPr>
          <a:xfrm>
            <a:off x="469626" y="8339317"/>
            <a:ext cx="1315771" cy="1309923"/>
          </a:xfrm>
          <a:custGeom>
            <a:avLst/>
            <a:gdLst/>
            <a:ahLst/>
            <a:cxnLst/>
            <a:rect l="l" t="t" r="r" b="b"/>
            <a:pathLst>
              <a:path w="1315771" h="1309923">
                <a:moveTo>
                  <a:pt x="0" y="0"/>
                </a:moveTo>
                <a:lnTo>
                  <a:pt x="1315771" y="0"/>
                </a:lnTo>
                <a:lnTo>
                  <a:pt x="1315771" y="1309923"/>
                </a:lnTo>
                <a:lnTo>
                  <a:pt x="0" y="13099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5000"/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grpSp>
        <p:nvGrpSpPr>
          <p:cNvPr id="20" name="Group 20"/>
          <p:cNvGrpSpPr/>
          <p:nvPr/>
        </p:nvGrpSpPr>
        <p:grpSpPr>
          <a:xfrm>
            <a:off x="16365897" y="8339317"/>
            <a:ext cx="1600458" cy="1600458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04775" cap="sq">
              <a:solidFill>
                <a:srgbClr val="486598"/>
              </a:solidFill>
              <a:prstDash val="solid"/>
              <a:miter/>
            </a:ln>
          </p:spPr>
          <p:txBody>
            <a:bodyPr/>
            <a:lstStyle/>
            <a:p>
              <a:endParaRPr lang="ar-EG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469626" y="2958992"/>
            <a:ext cx="5169174" cy="511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000" b="1" spc="465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DEPI GRAD PROJECT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9626" y="514088"/>
            <a:ext cx="12947003" cy="2270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400"/>
              </a:lnSpc>
            </a:pPr>
            <a:r>
              <a:rPr lang="en-US" sz="8400" b="1" i="1" dirty="0">
                <a:solidFill>
                  <a:srgbClr val="FFFFFF"/>
                </a:solidFill>
                <a:latin typeface="Poppins Ultra-Bold Italics"/>
                <a:ea typeface="Poppins Ultra-Bold Italics"/>
                <a:cs typeface="Poppins Ultra-Bold Italics"/>
                <a:sym typeface="Poppins Ultra-Bold Italics"/>
              </a:rPr>
              <a:t>Mapping Real Estate in Egypt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520819" y="9563515"/>
            <a:ext cx="6014382" cy="511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spc="465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TEAM 3: DATA WIZARDS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748549" y="-4102235"/>
            <a:ext cx="2315586" cy="7946284"/>
            <a:chOff x="0" y="0"/>
            <a:chExt cx="583389" cy="20019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3389" cy="2001987"/>
            </a:xfrm>
            <a:custGeom>
              <a:avLst/>
              <a:gdLst/>
              <a:ahLst/>
              <a:cxnLst/>
              <a:rect l="l" t="t" r="r" b="b"/>
              <a:pathLst>
                <a:path w="583389" h="2001987">
                  <a:moveTo>
                    <a:pt x="345264" y="0"/>
                  </a:moveTo>
                  <a:lnTo>
                    <a:pt x="583389" y="238125"/>
                  </a:lnTo>
                  <a:lnTo>
                    <a:pt x="583389" y="1763862"/>
                  </a:lnTo>
                  <a:lnTo>
                    <a:pt x="345264" y="2001987"/>
                  </a:lnTo>
                  <a:lnTo>
                    <a:pt x="238125" y="2001987"/>
                  </a:lnTo>
                  <a:lnTo>
                    <a:pt x="0" y="1763862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345264" y="0"/>
                  </a:ln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3500" y="-60325"/>
              <a:ext cx="456389" cy="1998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6892049" y="-4483235"/>
            <a:ext cx="2315586" cy="7946284"/>
            <a:chOff x="0" y="0"/>
            <a:chExt cx="583389" cy="200198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3389" cy="2001987"/>
            </a:xfrm>
            <a:custGeom>
              <a:avLst/>
              <a:gdLst/>
              <a:ahLst/>
              <a:cxnLst/>
              <a:rect l="l" t="t" r="r" b="b"/>
              <a:pathLst>
                <a:path w="583389" h="2001987">
                  <a:moveTo>
                    <a:pt x="345264" y="0"/>
                  </a:moveTo>
                  <a:lnTo>
                    <a:pt x="583389" y="238125"/>
                  </a:lnTo>
                  <a:lnTo>
                    <a:pt x="583389" y="1763862"/>
                  </a:lnTo>
                  <a:lnTo>
                    <a:pt x="345264" y="2001987"/>
                  </a:lnTo>
                  <a:lnTo>
                    <a:pt x="238125" y="2001987"/>
                  </a:lnTo>
                  <a:lnTo>
                    <a:pt x="0" y="1763862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345264" y="0"/>
                  </a:lnTo>
                  <a:close/>
                </a:path>
              </a:pathLst>
            </a:custGeom>
            <a:solidFill>
              <a:srgbClr val="03459D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3500" y="-60325"/>
              <a:ext cx="456389" cy="1998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1696548" y="8604854"/>
            <a:ext cx="3485205" cy="3769762"/>
            <a:chOff x="0" y="0"/>
            <a:chExt cx="871356" cy="9425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71356" cy="942500"/>
            </a:xfrm>
            <a:custGeom>
              <a:avLst/>
              <a:gdLst/>
              <a:ahLst/>
              <a:cxnLst/>
              <a:rect l="l" t="t" r="r" b="b"/>
              <a:pathLst>
                <a:path w="871356" h="942500">
                  <a:moveTo>
                    <a:pt x="633231" y="0"/>
                  </a:moveTo>
                  <a:lnTo>
                    <a:pt x="871356" y="238125"/>
                  </a:lnTo>
                  <a:lnTo>
                    <a:pt x="871356" y="704375"/>
                  </a:lnTo>
                  <a:lnTo>
                    <a:pt x="633231" y="942500"/>
                  </a:lnTo>
                  <a:lnTo>
                    <a:pt x="238125" y="942500"/>
                  </a:lnTo>
                  <a:lnTo>
                    <a:pt x="0" y="7043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633231" y="0"/>
                  </a:lnTo>
                  <a:close/>
                </a:path>
              </a:pathLst>
            </a:custGeom>
            <a:solidFill>
              <a:srgbClr val="03459D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500" y="-60325"/>
              <a:ext cx="744356" cy="939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10800000">
            <a:off x="-1898321" y="9273710"/>
            <a:ext cx="4920624" cy="4144413"/>
            <a:chOff x="0" y="0"/>
            <a:chExt cx="1119021" cy="9425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19021" cy="942500"/>
            </a:xfrm>
            <a:custGeom>
              <a:avLst/>
              <a:gdLst/>
              <a:ahLst/>
              <a:cxnLst/>
              <a:rect l="l" t="t" r="r" b="b"/>
              <a:pathLst>
                <a:path w="1119021" h="942500">
                  <a:moveTo>
                    <a:pt x="880896" y="0"/>
                  </a:moveTo>
                  <a:lnTo>
                    <a:pt x="1119021" y="238125"/>
                  </a:lnTo>
                  <a:lnTo>
                    <a:pt x="1119021" y="704375"/>
                  </a:lnTo>
                  <a:lnTo>
                    <a:pt x="880896" y="942500"/>
                  </a:lnTo>
                  <a:lnTo>
                    <a:pt x="238125" y="942500"/>
                  </a:lnTo>
                  <a:lnTo>
                    <a:pt x="0" y="7043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880896" y="0"/>
                  </a:ln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500" y="-60325"/>
              <a:ext cx="992021" cy="939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-10800000">
            <a:off x="4124325" y="9461035"/>
            <a:ext cx="3485205" cy="3769762"/>
            <a:chOff x="0" y="0"/>
            <a:chExt cx="871356" cy="9425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71356" cy="942500"/>
            </a:xfrm>
            <a:custGeom>
              <a:avLst/>
              <a:gdLst/>
              <a:ahLst/>
              <a:cxnLst/>
              <a:rect l="l" t="t" r="r" b="b"/>
              <a:pathLst>
                <a:path w="871356" h="942500">
                  <a:moveTo>
                    <a:pt x="633231" y="0"/>
                  </a:moveTo>
                  <a:lnTo>
                    <a:pt x="871356" y="238125"/>
                  </a:lnTo>
                  <a:lnTo>
                    <a:pt x="871356" y="704375"/>
                  </a:lnTo>
                  <a:lnTo>
                    <a:pt x="633231" y="942500"/>
                  </a:lnTo>
                  <a:lnTo>
                    <a:pt x="238125" y="942500"/>
                  </a:lnTo>
                  <a:lnTo>
                    <a:pt x="0" y="7043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633231" y="0"/>
                  </a:ln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500" y="-60325"/>
              <a:ext cx="744356" cy="939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8371040" y="6478608"/>
            <a:ext cx="2779703" cy="2779692"/>
            <a:chOff x="0" y="0"/>
            <a:chExt cx="6350000" cy="634997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18103" t="-24310" r="-21465" b="-15258"/>
              </a:stretch>
            </a:blip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154783" y="3918363"/>
            <a:ext cx="3422100" cy="3575839"/>
            <a:chOff x="0" y="0"/>
            <a:chExt cx="4562799" cy="4767786"/>
          </a:xfrm>
        </p:grpSpPr>
        <p:grpSp>
          <p:nvGrpSpPr>
            <p:cNvPr id="20" name="Group 20"/>
            <p:cNvGrpSpPr>
              <a:grpSpLocks noChangeAspect="1"/>
            </p:cNvGrpSpPr>
            <p:nvPr/>
          </p:nvGrpSpPr>
          <p:grpSpPr>
            <a:xfrm>
              <a:off x="312461" y="0"/>
              <a:ext cx="3937878" cy="3937862"/>
              <a:chOff x="0" y="0"/>
              <a:chExt cx="6350000" cy="634997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13523" t="-31315" r="-17791"/>
                </a:stretch>
              </a:blipFill>
            </p:spPr>
            <p:txBody>
              <a:bodyPr/>
              <a:lstStyle/>
              <a:p>
                <a:endParaRPr lang="ar-EG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0" y="3259492"/>
              <a:ext cx="4562799" cy="821647"/>
              <a:chOff x="0" y="0"/>
              <a:chExt cx="901294" cy="162301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901294" cy="162301"/>
              </a:xfrm>
              <a:custGeom>
                <a:avLst/>
                <a:gdLst/>
                <a:ahLst/>
                <a:cxnLst/>
                <a:rect l="l" t="t" r="r" b="b"/>
                <a:pathLst>
                  <a:path w="901294" h="162301">
                    <a:moveTo>
                      <a:pt x="81150" y="0"/>
                    </a:moveTo>
                    <a:lnTo>
                      <a:pt x="820143" y="0"/>
                    </a:lnTo>
                    <a:cubicBezTo>
                      <a:pt x="864962" y="0"/>
                      <a:pt x="901294" y="36332"/>
                      <a:pt x="901294" y="81150"/>
                    </a:cubicBezTo>
                    <a:lnTo>
                      <a:pt x="901294" y="81150"/>
                    </a:lnTo>
                    <a:cubicBezTo>
                      <a:pt x="901294" y="125968"/>
                      <a:pt x="864962" y="162301"/>
                      <a:pt x="820143" y="162301"/>
                    </a:cubicBezTo>
                    <a:lnTo>
                      <a:pt x="81150" y="162301"/>
                    </a:lnTo>
                    <a:cubicBezTo>
                      <a:pt x="36332" y="162301"/>
                      <a:pt x="0" y="125968"/>
                      <a:pt x="0" y="81150"/>
                    </a:cubicBezTo>
                    <a:lnTo>
                      <a:pt x="0" y="81150"/>
                    </a:lnTo>
                    <a:cubicBezTo>
                      <a:pt x="0" y="36332"/>
                      <a:pt x="36332" y="0"/>
                      <a:pt x="81150" y="0"/>
                    </a:cubicBezTo>
                    <a:close/>
                  </a:path>
                </a:pathLst>
              </a:custGeom>
              <a:solidFill>
                <a:srgbClr val="03459D"/>
              </a:solidFill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901294" cy="28612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80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295890" y="3371653"/>
              <a:ext cx="3971020" cy="5662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pc="7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Ahmed Wael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4201577"/>
              <a:ext cx="4562799" cy="5662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Team Leader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049842" y="8830716"/>
            <a:ext cx="3422100" cy="1131221"/>
            <a:chOff x="0" y="0"/>
            <a:chExt cx="4562799" cy="1508294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4562799" cy="821647"/>
              <a:chOff x="0" y="0"/>
              <a:chExt cx="901294" cy="162301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901294" cy="162301"/>
              </a:xfrm>
              <a:custGeom>
                <a:avLst/>
                <a:gdLst/>
                <a:ahLst/>
                <a:cxnLst/>
                <a:rect l="l" t="t" r="r" b="b"/>
                <a:pathLst>
                  <a:path w="901294" h="162301">
                    <a:moveTo>
                      <a:pt x="81150" y="0"/>
                    </a:moveTo>
                    <a:lnTo>
                      <a:pt x="820143" y="0"/>
                    </a:lnTo>
                    <a:cubicBezTo>
                      <a:pt x="864962" y="0"/>
                      <a:pt x="901294" y="36332"/>
                      <a:pt x="901294" y="81150"/>
                    </a:cubicBezTo>
                    <a:lnTo>
                      <a:pt x="901294" y="81150"/>
                    </a:lnTo>
                    <a:cubicBezTo>
                      <a:pt x="901294" y="125968"/>
                      <a:pt x="864962" y="162301"/>
                      <a:pt x="820143" y="162301"/>
                    </a:cubicBezTo>
                    <a:lnTo>
                      <a:pt x="81150" y="162301"/>
                    </a:lnTo>
                    <a:cubicBezTo>
                      <a:pt x="36332" y="162301"/>
                      <a:pt x="0" y="125968"/>
                      <a:pt x="0" y="81150"/>
                    </a:cubicBezTo>
                    <a:lnTo>
                      <a:pt x="0" y="81150"/>
                    </a:lnTo>
                    <a:cubicBezTo>
                      <a:pt x="0" y="36332"/>
                      <a:pt x="36332" y="0"/>
                      <a:pt x="81150" y="0"/>
                    </a:cubicBezTo>
                    <a:close/>
                  </a:path>
                </a:pathLst>
              </a:custGeom>
              <a:solidFill>
                <a:srgbClr val="03459D"/>
              </a:solidFill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123825"/>
                <a:ext cx="901294" cy="28612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80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0" y="942085"/>
              <a:ext cx="4562799" cy="5662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Member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95890" y="94381"/>
              <a:ext cx="3971020" cy="5662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pc="7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Nourhan Safwat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4277513" y="1028700"/>
            <a:ext cx="3422100" cy="3468382"/>
            <a:chOff x="0" y="0"/>
            <a:chExt cx="4562799" cy="4624509"/>
          </a:xfrm>
        </p:grpSpPr>
        <p:grpSp>
          <p:nvGrpSpPr>
            <p:cNvPr id="34" name="Group 34"/>
            <p:cNvGrpSpPr>
              <a:grpSpLocks noChangeAspect="1"/>
            </p:cNvGrpSpPr>
            <p:nvPr/>
          </p:nvGrpSpPr>
          <p:grpSpPr>
            <a:xfrm>
              <a:off x="428264" y="0"/>
              <a:ext cx="3706271" cy="3706256"/>
              <a:chOff x="0" y="0"/>
              <a:chExt cx="6350000" cy="6349975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ar-EG"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0" y="3116215"/>
              <a:ext cx="4562799" cy="821647"/>
              <a:chOff x="0" y="0"/>
              <a:chExt cx="901294" cy="162301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901294" cy="162301"/>
              </a:xfrm>
              <a:custGeom>
                <a:avLst/>
                <a:gdLst/>
                <a:ahLst/>
                <a:cxnLst/>
                <a:rect l="l" t="t" r="r" b="b"/>
                <a:pathLst>
                  <a:path w="901294" h="162301">
                    <a:moveTo>
                      <a:pt x="81150" y="0"/>
                    </a:moveTo>
                    <a:lnTo>
                      <a:pt x="820143" y="0"/>
                    </a:lnTo>
                    <a:cubicBezTo>
                      <a:pt x="864962" y="0"/>
                      <a:pt x="901294" y="36332"/>
                      <a:pt x="901294" y="81150"/>
                    </a:cubicBezTo>
                    <a:lnTo>
                      <a:pt x="901294" y="81150"/>
                    </a:lnTo>
                    <a:cubicBezTo>
                      <a:pt x="901294" y="125968"/>
                      <a:pt x="864962" y="162301"/>
                      <a:pt x="820143" y="162301"/>
                    </a:cubicBezTo>
                    <a:lnTo>
                      <a:pt x="81150" y="162301"/>
                    </a:lnTo>
                    <a:cubicBezTo>
                      <a:pt x="36332" y="162301"/>
                      <a:pt x="0" y="125968"/>
                      <a:pt x="0" y="81150"/>
                    </a:cubicBezTo>
                    <a:lnTo>
                      <a:pt x="0" y="81150"/>
                    </a:lnTo>
                    <a:cubicBezTo>
                      <a:pt x="0" y="36332"/>
                      <a:pt x="36332" y="0"/>
                      <a:pt x="81150" y="0"/>
                    </a:cubicBezTo>
                    <a:close/>
                  </a:path>
                </a:pathLst>
              </a:custGeom>
              <a:solidFill>
                <a:srgbClr val="03459D"/>
              </a:solidFill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123825"/>
                <a:ext cx="901294" cy="28612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80"/>
                  </a:lnSpc>
                </a:pPr>
                <a:endParaRPr/>
              </a:p>
            </p:txBody>
          </p:sp>
        </p:grpSp>
        <p:sp>
          <p:nvSpPr>
            <p:cNvPr id="39" name="TextBox 39"/>
            <p:cNvSpPr txBox="1"/>
            <p:nvPr/>
          </p:nvSpPr>
          <p:spPr>
            <a:xfrm>
              <a:off x="256481" y="3228377"/>
              <a:ext cx="4049838" cy="5662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pc="7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Sara Ashraf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4058300"/>
              <a:ext cx="4562799" cy="5662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Member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4277513" y="6493555"/>
            <a:ext cx="3422100" cy="3468382"/>
            <a:chOff x="0" y="0"/>
            <a:chExt cx="4562799" cy="4624509"/>
          </a:xfrm>
        </p:grpSpPr>
        <p:grpSp>
          <p:nvGrpSpPr>
            <p:cNvPr id="42" name="Group 42"/>
            <p:cNvGrpSpPr>
              <a:grpSpLocks noChangeAspect="1"/>
            </p:cNvGrpSpPr>
            <p:nvPr/>
          </p:nvGrpSpPr>
          <p:grpSpPr>
            <a:xfrm>
              <a:off x="428264" y="0"/>
              <a:ext cx="3706271" cy="3706256"/>
              <a:chOff x="0" y="0"/>
              <a:chExt cx="6350000" cy="634997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endParaRPr lang="ar-EG"/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0" y="3116215"/>
              <a:ext cx="4562799" cy="821647"/>
              <a:chOff x="0" y="0"/>
              <a:chExt cx="901294" cy="162301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901294" cy="162301"/>
              </a:xfrm>
              <a:custGeom>
                <a:avLst/>
                <a:gdLst/>
                <a:ahLst/>
                <a:cxnLst/>
                <a:rect l="l" t="t" r="r" b="b"/>
                <a:pathLst>
                  <a:path w="901294" h="162301">
                    <a:moveTo>
                      <a:pt x="81150" y="0"/>
                    </a:moveTo>
                    <a:lnTo>
                      <a:pt x="820143" y="0"/>
                    </a:lnTo>
                    <a:cubicBezTo>
                      <a:pt x="864962" y="0"/>
                      <a:pt x="901294" y="36332"/>
                      <a:pt x="901294" y="81150"/>
                    </a:cubicBezTo>
                    <a:lnTo>
                      <a:pt x="901294" y="81150"/>
                    </a:lnTo>
                    <a:cubicBezTo>
                      <a:pt x="901294" y="125968"/>
                      <a:pt x="864962" y="162301"/>
                      <a:pt x="820143" y="162301"/>
                    </a:cubicBezTo>
                    <a:lnTo>
                      <a:pt x="81150" y="162301"/>
                    </a:lnTo>
                    <a:cubicBezTo>
                      <a:pt x="36332" y="162301"/>
                      <a:pt x="0" y="125968"/>
                      <a:pt x="0" y="81150"/>
                    </a:cubicBezTo>
                    <a:lnTo>
                      <a:pt x="0" y="81150"/>
                    </a:lnTo>
                    <a:cubicBezTo>
                      <a:pt x="0" y="36332"/>
                      <a:pt x="36332" y="0"/>
                      <a:pt x="81150" y="0"/>
                    </a:cubicBezTo>
                    <a:close/>
                  </a:path>
                </a:pathLst>
              </a:custGeom>
              <a:solidFill>
                <a:srgbClr val="03459D"/>
              </a:solidFill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0" y="-123825"/>
                <a:ext cx="901294" cy="28612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80"/>
                  </a:lnSpc>
                </a:pPr>
                <a:endParaRPr/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256481" y="3228377"/>
              <a:ext cx="4049838" cy="5662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pc="7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Marwa Ebrahim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4058300"/>
              <a:ext cx="4562799" cy="5662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Member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049842" y="1202404"/>
            <a:ext cx="3422100" cy="3294678"/>
            <a:chOff x="0" y="0"/>
            <a:chExt cx="4562799" cy="4392904"/>
          </a:xfrm>
        </p:grpSpPr>
        <p:grpSp>
          <p:nvGrpSpPr>
            <p:cNvPr id="50" name="Group 50"/>
            <p:cNvGrpSpPr>
              <a:grpSpLocks noChangeAspect="1"/>
            </p:cNvGrpSpPr>
            <p:nvPr/>
          </p:nvGrpSpPr>
          <p:grpSpPr>
            <a:xfrm>
              <a:off x="428264" y="0"/>
              <a:ext cx="3706271" cy="3706256"/>
              <a:chOff x="0" y="0"/>
              <a:chExt cx="6350000" cy="634997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t="-36190" b="-41588"/>
                </a:stretch>
              </a:blipFill>
            </p:spPr>
            <p:txBody>
              <a:bodyPr/>
              <a:lstStyle/>
              <a:p>
                <a:endParaRPr lang="ar-EG"/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0" y="2884609"/>
              <a:ext cx="4562799" cy="821647"/>
              <a:chOff x="0" y="0"/>
              <a:chExt cx="901294" cy="162301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901294" cy="162301"/>
              </a:xfrm>
              <a:custGeom>
                <a:avLst/>
                <a:gdLst/>
                <a:ahLst/>
                <a:cxnLst/>
                <a:rect l="l" t="t" r="r" b="b"/>
                <a:pathLst>
                  <a:path w="901294" h="162301">
                    <a:moveTo>
                      <a:pt x="81150" y="0"/>
                    </a:moveTo>
                    <a:lnTo>
                      <a:pt x="820143" y="0"/>
                    </a:lnTo>
                    <a:cubicBezTo>
                      <a:pt x="864962" y="0"/>
                      <a:pt x="901294" y="36332"/>
                      <a:pt x="901294" y="81150"/>
                    </a:cubicBezTo>
                    <a:lnTo>
                      <a:pt x="901294" y="81150"/>
                    </a:lnTo>
                    <a:cubicBezTo>
                      <a:pt x="901294" y="125968"/>
                      <a:pt x="864962" y="162301"/>
                      <a:pt x="820143" y="162301"/>
                    </a:cubicBezTo>
                    <a:lnTo>
                      <a:pt x="81150" y="162301"/>
                    </a:lnTo>
                    <a:cubicBezTo>
                      <a:pt x="36332" y="162301"/>
                      <a:pt x="0" y="125968"/>
                      <a:pt x="0" y="81150"/>
                    </a:cubicBezTo>
                    <a:lnTo>
                      <a:pt x="0" y="81150"/>
                    </a:lnTo>
                    <a:cubicBezTo>
                      <a:pt x="0" y="36332"/>
                      <a:pt x="36332" y="0"/>
                      <a:pt x="81150" y="0"/>
                    </a:cubicBezTo>
                    <a:close/>
                  </a:path>
                </a:pathLst>
              </a:custGeom>
              <a:solidFill>
                <a:srgbClr val="03459D"/>
              </a:solidFill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0" y="-123825"/>
                <a:ext cx="901294" cy="28612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80"/>
                  </a:lnSpc>
                </a:pPr>
                <a:endParaRPr/>
              </a:p>
            </p:txBody>
          </p:sp>
        </p:grpSp>
        <p:sp>
          <p:nvSpPr>
            <p:cNvPr id="55" name="TextBox 55"/>
            <p:cNvSpPr txBox="1"/>
            <p:nvPr/>
          </p:nvSpPr>
          <p:spPr>
            <a:xfrm>
              <a:off x="295890" y="2996771"/>
              <a:ext cx="3971020" cy="5662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pc="7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Furqan Sarhan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3826695"/>
              <a:ext cx="4562799" cy="5662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Member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028700" y="3953172"/>
            <a:ext cx="5524500" cy="12659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360"/>
              </a:lnSpc>
            </a:pPr>
            <a:r>
              <a:rPr lang="en-US" sz="7400" b="1" dirty="0">
                <a:solidFill>
                  <a:srgbClr val="002C66"/>
                </a:solidFill>
                <a:latin typeface="Poppins Bold"/>
                <a:ea typeface="Poppins Bold"/>
                <a:cs typeface="Poppins Bold"/>
                <a:sym typeface="Poppins Bold"/>
              </a:rPr>
              <a:t>Our Team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43976" y="1224280"/>
            <a:ext cx="3422100" cy="616235"/>
            <a:chOff x="0" y="0"/>
            <a:chExt cx="901294" cy="1623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01294" cy="162301"/>
            </a:xfrm>
            <a:custGeom>
              <a:avLst/>
              <a:gdLst/>
              <a:ahLst/>
              <a:cxnLst/>
              <a:rect l="l" t="t" r="r" b="b"/>
              <a:pathLst>
                <a:path w="901294" h="162301">
                  <a:moveTo>
                    <a:pt x="81150" y="0"/>
                  </a:moveTo>
                  <a:lnTo>
                    <a:pt x="820143" y="0"/>
                  </a:lnTo>
                  <a:cubicBezTo>
                    <a:pt x="864962" y="0"/>
                    <a:pt x="901294" y="36332"/>
                    <a:pt x="901294" y="81150"/>
                  </a:cubicBezTo>
                  <a:lnTo>
                    <a:pt x="901294" y="81150"/>
                  </a:lnTo>
                  <a:cubicBezTo>
                    <a:pt x="901294" y="125968"/>
                    <a:pt x="864962" y="162301"/>
                    <a:pt x="820143" y="162301"/>
                  </a:cubicBezTo>
                  <a:lnTo>
                    <a:pt x="81150" y="162301"/>
                  </a:lnTo>
                  <a:cubicBezTo>
                    <a:pt x="36332" y="162301"/>
                    <a:pt x="0" y="125968"/>
                    <a:pt x="0" y="81150"/>
                  </a:cubicBezTo>
                  <a:lnTo>
                    <a:pt x="0" y="81150"/>
                  </a:lnTo>
                  <a:cubicBezTo>
                    <a:pt x="0" y="36332"/>
                    <a:pt x="36332" y="0"/>
                    <a:pt x="81150" y="0"/>
                  </a:cubicBez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901294" cy="286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4039677" y="1279668"/>
            <a:ext cx="3230696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 Overview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2317554" y="2222569"/>
            <a:ext cx="4161765" cy="616235"/>
            <a:chOff x="0" y="0"/>
            <a:chExt cx="1096103" cy="16230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96103" cy="162301"/>
            </a:xfrm>
            <a:custGeom>
              <a:avLst/>
              <a:gdLst/>
              <a:ahLst/>
              <a:cxnLst/>
              <a:rect l="l" t="t" r="r" b="b"/>
              <a:pathLst>
                <a:path w="1096103" h="162301">
                  <a:moveTo>
                    <a:pt x="81150" y="0"/>
                  </a:moveTo>
                  <a:lnTo>
                    <a:pt x="1014952" y="0"/>
                  </a:lnTo>
                  <a:cubicBezTo>
                    <a:pt x="1059771" y="0"/>
                    <a:pt x="1096103" y="36332"/>
                    <a:pt x="1096103" y="81150"/>
                  </a:cubicBezTo>
                  <a:lnTo>
                    <a:pt x="1096103" y="81150"/>
                  </a:lnTo>
                  <a:cubicBezTo>
                    <a:pt x="1096103" y="125968"/>
                    <a:pt x="1059771" y="162301"/>
                    <a:pt x="1014952" y="162301"/>
                  </a:cubicBezTo>
                  <a:lnTo>
                    <a:pt x="81150" y="162301"/>
                  </a:lnTo>
                  <a:cubicBezTo>
                    <a:pt x="36332" y="162301"/>
                    <a:pt x="0" y="125968"/>
                    <a:pt x="0" y="81150"/>
                  </a:cubicBezTo>
                  <a:lnTo>
                    <a:pt x="0" y="81150"/>
                  </a:lnTo>
                  <a:cubicBezTo>
                    <a:pt x="0" y="36332"/>
                    <a:pt x="36332" y="0"/>
                    <a:pt x="81150" y="0"/>
                  </a:cubicBez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23825"/>
              <a:ext cx="1096103" cy="286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783088" y="2277957"/>
            <a:ext cx="3230696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Sources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604629" y="4602758"/>
            <a:ext cx="3422100" cy="616235"/>
            <a:chOff x="0" y="0"/>
            <a:chExt cx="901294" cy="16230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01294" cy="162301"/>
            </a:xfrm>
            <a:custGeom>
              <a:avLst/>
              <a:gdLst/>
              <a:ahLst/>
              <a:cxnLst/>
              <a:rect l="l" t="t" r="r" b="b"/>
              <a:pathLst>
                <a:path w="901294" h="162301">
                  <a:moveTo>
                    <a:pt x="81150" y="0"/>
                  </a:moveTo>
                  <a:lnTo>
                    <a:pt x="820143" y="0"/>
                  </a:lnTo>
                  <a:cubicBezTo>
                    <a:pt x="864962" y="0"/>
                    <a:pt x="901294" y="36332"/>
                    <a:pt x="901294" y="81150"/>
                  </a:cubicBezTo>
                  <a:lnTo>
                    <a:pt x="901294" y="81150"/>
                  </a:lnTo>
                  <a:cubicBezTo>
                    <a:pt x="901294" y="125968"/>
                    <a:pt x="864962" y="162301"/>
                    <a:pt x="820143" y="162301"/>
                  </a:cubicBezTo>
                  <a:lnTo>
                    <a:pt x="81150" y="162301"/>
                  </a:lnTo>
                  <a:cubicBezTo>
                    <a:pt x="36332" y="162301"/>
                    <a:pt x="0" y="125968"/>
                    <a:pt x="0" y="81150"/>
                  </a:cubicBezTo>
                  <a:lnTo>
                    <a:pt x="0" y="81150"/>
                  </a:lnTo>
                  <a:cubicBezTo>
                    <a:pt x="0" y="36332"/>
                    <a:pt x="36332" y="0"/>
                    <a:pt x="81150" y="0"/>
                  </a:cubicBez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23825"/>
              <a:ext cx="901294" cy="286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702205" y="5864287"/>
            <a:ext cx="3422100" cy="616235"/>
            <a:chOff x="0" y="0"/>
            <a:chExt cx="901294" cy="16230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01294" cy="162301"/>
            </a:xfrm>
            <a:custGeom>
              <a:avLst/>
              <a:gdLst/>
              <a:ahLst/>
              <a:cxnLst/>
              <a:rect l="l" t="t" r="r" b="b"/>
              <a:pathLst>
                <a:path w="901294" h="162301">
                  <a:moveTo>
                    <a:pt x="81150" y="0"/>
                  </a:moveTo>
                  <a:lnTo>
                    <a:pt x="820143" y="0"/>
                  </a:lnTo>
                  <a:cubicBezTo>
                    <a:pt x="864962" y="0"/>
                    <a:pt x="901294" y="36332"/>
                    <a:pt x="901294" y="81150"/>
                  </a:cubicBezTo>
                  <a:lnTo>
                    <a:pt x="901294" y="81150"/>
                  </a:lnTo>
                  <a:cubicBezTo>
                    <a:pt x="901294" y="125968"/>
                    <a:pt x="864962" y="162301"/>
                    <a:pt x="820143" y="162301"/>
                  </a:cubicBezTo>
                  <a:lnTo>
                    <a:pt x="81150" y="162301"/>
                  </a:lnTo>
                  <a:cubicBezTo>
                    <a:pt x="36332" y="162301"/>
                    <a:pt x="0" y="125968"/>
                    <a:pt x="0" y="81150"/>
                  </a:cubicBezTo>
                  <a:lnTo>
                    <a:pt x="0" y="81150"/>
                  </a:lnTo>
                  <a:cubicBezTo>
                    <a:pt x="0" y="36332"/>
                    <a:pt x="36332" y="0"/>
                    <a:pt x="81150" y="0"/>
                  </a:cubicBez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23825"/>
              <a:ext cx="901294" cy="286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977300" y="7030484"/>
            <a:ext cx="3422100" cy="616235"/>
            <a:chOff x="0" y="0"/>
            <a:chExt cx="901294" cy="16230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01294" cy="162301"/>
            </a:xfrm>
            <a:custGeom>
              <a:avLst/>
              <a:gdLst/>
              <a:ahLst/>
              <a:cxnLst/>
              <a:rect l="l" t="t" r="r" b="b"/>
              <a:pathLst>
                <a:path w="901294" h="162301">
                  <a:moveTo>
                    <a:pt x="81150" y="0"/>
                  </a:moveTo>
                  <a:lnTo>
                    <a:pt x="820143" y="0"/>
                  </a:lnTo>
                  <a:cubicBezTo>
                    <a:pt x="864962" y="0"/>
                    <a:pt x="901294" y="36332"/>
                    <a:pt x="901294" y="81150"/>
                  </a:cubicBezTo>
                  <a:lnTo>
                    <a:pt x="901294" y="81150"/>
                  </a:lnTo>
                  <a:cubicBezTo>
                    <a:pt x="901294" y="125968"/>
                    <a:pt x="864962" y="162301"/>
                    <a:pt x="820143" y="162301"/>
                  </a:cubicBezTo>
                  <a:lnTo>
                    <a:pt x="81150" y="162301"/>
                  </a:lnTo>
                  <a:cubicBezTo>
                    <a:pt x="36332" y="162301"/>
                    <a:pt x="0" y="125968"/>
                    <a:pt x="0" y="81150"/>
                  </a:cubicBezTo>
                  <a:lnTo>
                    <a:pt x="0" y="81150"/>
                  </a:lnTo>
                  <a:cubicBezTo>
                    <a:pt x="0" y="36332"/>
                    <a:pt x="36332" y="0"/>
                    <a:pt x="81150" y="0"/>
                  </a:cubicBez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23825"/>
              <a:ext cx="901294" cy="286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848274" y="9319707"/>
            <a:ext cx="3422100" cy="565105"/>
            <a:chOff x="0" y="0"/>
            <a:chExt cx="901294" cy="14883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01294" cy="148834"/>
            </a:xfrm>
            <a:custGeom>
              <a:avLst/>
              <a:gdLst/>
              <a:ahLst/>
              <a:cxnLst/>
              <a:rect l="l" t="t" r="r" b="b"/>
              <a:pathLst>
                <a:path w="901294" h="148834">
                  <a:moveTo>
                    <a:pt x="74417" y="0"/>
                  </a:moveTo>
                  <a:lnTo>
                    <a:pt x="826877" y="0"/>
                  </a:lnTo>
                  <a:cubicBezTo>
                    <a:pt x="846613" y="0"/>
                    <a:pt x="865542" y="7840"/>
                    <a:pt x="879497" y="21796"/>
                  </a:cubicBezTo>
                  <a:cubicBezTo>
                    <a:pt x="893453" y="35752"/>
                    <a:pt x="901294" y="54680"/>
                    <a:pt x="901294" y="74417"/>
                  </a:cubicBezTo>
                  <a:lnTo>
                    <a:pt x="901294" y="74417"/>
                  </a:lnTo>
                  <a:cubicBezTo>
                    <a:pt x="901294" y="94154"/>
                    <a:pt x="893453" y="113082"/>
                    <a:pt x="879497" y="127038"/>
                  </a:cubicBezTo>
                  <a:cubicBezTo>
                    <a:pt x="865542" y="140994"/>
                    <a:pt x="846613" y="148834"/>
                    <a:pt x="826877" y="148834"/>
                  </a:cubicBezTo>
                  <a:lnTo>
                    <a:pt x="74417" y="148834"/>
                  </a:lnTo>
                  <a:cubicBezTo>
                    <a:pt x="54680" y="148834"/>
                    <a:pt x="35752" y="140994"/>
                    <a:pt x="21796" y="127038"/>
                  </a:cubicBezTo>
                  <a:cubicBezTo>
                    <a:pt x="7840" y="113082"/>
                    <a:pt x="0" y="94154"/>
                    <a:pt x="0" y="74417"/>
                  </a:cubicBezTo>
                  <a:lnTo>
                    <a:pt x="0" y="74417"/>
                  </a:lnTo>
                  <a:cubicBezTo>
                    <a:pt x="0" y="54680"/>
                    <a:pt x="7840" y="35752"/>
                    <a:pt x="21796" y="21796"/>
                  </a:cubicBezTo>
                  <a:cubicBezTo>
                    <a:pt x="35752" y="7840"/>
                    <a:pt x="54680" y="0"/>
                    <a:pt x="74417" y="0"/>
                  </a:cubicBez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23825"/>
              <a:ext cx="901294" cy="2726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797907" y="3304747"/>
            <a:ext cx="3422100" cy="616235"/>
            <a:chOff x="0" y="0"/>
            <a:chExt cx="901294" cy="16230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01294" cy="162301"/>
            </a:xfrm>
            <a:custGeom>
              <a:avLst/>
              <a:gdLst/>
              <a:ahLst/>
              <a:cxnLst/>
              <a:rect l="l" t="t" r="r" b="b"/>
              <a:pathLst>
                <a:path w="901294" h="162301">
                  <a:moveTo>
                    <a:pt x="81150" y="0"/>
                  </a:moveTo>
                  <a:lnTo>
                    <a:pt x="820143" y="0"/>
                  </a:lnTo>
                  <a:cubicBezTo>
                    <a:pt x="864962" y="0"/>
                    <a:pt x="901294" y="36332"/>
                    <a:pt x="901294" y="81150"/>
                  </a:cubicBezTo>
                  <a:lnTo>
                    <a:pt x="901294" y="81150"/>
                  </a:lnTo>
                  <a:cubicBezTo>
                    <a:pt x="901294" y="125968"/>
                    <a:pt x="864962" y="162301"/>
                    <a:pt x="820143" y="162301"/>
                  </a:cubicBezTo>
                  <a:lnTo>
                    <a:pt x="81150" y="162301"/>
                  </a:lnTo>
                  <a:cubicBezTo>
                    <a:pt x="36332" y="162301"/>
                    <a:pt x="0" y="125968"/>
                    <a:pt x="0" y="81150"/>
                  </a:cubicBezTo>
                  <a:lnTo>
                    <a:pt x="0" y="81150"/>
                  </a:lnTo>
                  <a:cubicBezTo>
                    <a:pt x="0" y="36332"/>
                    <a:pt x="36332" y="0"/>
                    <a:pt x="81150" y="0"/>
                  </a:cubicBez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123825"/>
              <a:ext cx="901294" cy="286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0893609" y="3389407"/>
            <a:ext cx="3230696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645550" y="4696550"/>
            <a:ext cx="3230696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Objectives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797907" y="5919675"/>
            <a:ext cx="3230696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 Workflow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073001" y="7090243"/>
            <a:ext cx="3230696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Cleaning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943976" y="9349064"/>
            <a:ext cx="3230696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Reporting</a:t>
            </a:r>
          </a:p>
        </p:txBody>
      </p:sp>
      <p:grpSp>
        <p:nvGrpSpPr>
          <p:cNvPr id="30" name="Group 30"/>
          <p:cNvGrpSpPr/>
          <p:nvPr/>
        </p:nvGrpSpPr>
        <p:grpSpPr>
          <a:xfrm rot="5400000">
            <a:off x="1312974" y="-3666659"/>
            <a:ext cx="2315586" cy="7075133"/>
            <a:chOff x="0" y="0"/>
            <a:chExt cx="583389" cy="178250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83389" cy="1782509"/>
            </a:xfrm>
            <a:custGeom>
              <a:avLst/>
              <a:gdLst/>
              <a:ahLst/>
              <a:cxnLst/>
              <a:rect l="l" t="t" r="r" b="b"/>
              <a:pathLst>
                <a:path w="583389" h="1782509">
                  <a:moveTo>
                    <a:pt x="345264" y="0"/>
                  </a:moveTo>
                  <a:lnTo>
                    <a:pt x="583389" y="238125"/>
                  </a:lnTo>
                  <a:lnTo>
                    <a:pt x="583389" y="1544384"/>
                  </a:lnTo>
                  <a:lnTo>
                    <a:pt x="345264" y="1782509"/>
                  </a:lnTo>
                  <a:lnTo>
                    <a:pt x="238125" y="1782509"/>
                  </a:lnTo>
                  <a:lnTo>
                    <a:pt x="0" y="1544384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345264" y="0"/>
                  </a:ln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500" y="-60325"/>
              <a:ext cx="456389" cy="17793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 rot="5400000">
            <a:off x="1312974" y="6939934"/>
            <a:ext cx="2315586" cy="7075133"/>
            <a:chOff x="0" y="0"/>
            <a:chExt cx="583389" cy="178250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83389" cy="1782509"/>
            </a:xfrm>
            <a:custGeom>
              <a:avLst/>
              <a:gdLst/>
              <a:ahLst/>
              <a:cxnLst/>
              <a:rect l="l" t="t" r="r" b="b"/>
              <a:pathLst>
                <a:path w="583389" h="1782509">
                  <a:moveTo>
                    <a:pt x="345264" y="0"/>
                  </a:moveTo>
                  <a:lnTo>
                    <a:pt x="583389" y="238125"/>
                  </a:lnTo>
                  <a:lnTo>
                    <a:pt x="583389" y="1544384"/>
                  </a:lnTo>
                  <a:lnTo>
                    <a:pt x="345264" y="1782509"/>
                  </a:lnTo>
                  <a:lnTo>
                    <a:pt x="238125" y="1782509"/>
                  </a:lnTo>
                  <a:lnTo>
                    <a:pt x="0" y="1544384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345264" y="0"/>
                  </a:ln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500" y="-60325"/>
              <a:ext cx="456389" cy="17793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 rot="5400000">
            <a:off x="6712258" y="-3912313"/>
            <a:ext cx="2315586" cy="6778571"/>
            <a:chOff x="0" y="0"/>
            <a:chExt cx="583389" cy="170779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83389" cy="1707793"/>
            </a:xfrm>
            <a:custGeom>
              <a:avLst/>
              <a:gdLst/>
              <a:ahLst/>
              <a:cxnLst/>
              <a:rect l="l" t="t" r="r" b="b"/>
              <a:pathLst>
                <a:path w="583389" h="1707793">
                  <a:moveTo>
                    <a:pt x="345264" y="0"/>
                  </a:moveTo>
                  <a:lnTo>
                    <a:pt x="583389" y="238125"/>
                  </a:lnTo>
                  <a:lnTo>
                    <a:pt x="583389" y="1469668"/>
                  </a:lnTo>
                  <a:lnTo>
                    <a:pt x="345264" y="1707793"/>
                  </a:lnTo>
                  <a:lnTo>
                    <a:pt x="238125" y="1707793"/>
                  </a:lnTo>
                  <a:lnTo>
                    <a:pt x="0" y="1469668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345264" y="0"/>
                  </a:lnTo>
                  <a:close/>
                </a:path>
              </a:pathLst>
            </a:custGeom>
            <a:solidFill>
              <a:srgbClr val="03459D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500" y="-60325"/>
              <a:ext cx="456389" cy="1704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 rot="5400000">
            <a:off x="6857782" y="7593266"/>
            <a:ext cx="2315586" cy="6778571"/>
            <a:chOff x="0" y="0"/>
            <a:chExt cx="583389" cy="1707793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83389" cy="1707793"/>
            </a:xfrm>
            <a:custGeom>
              <a:avLst/>
              <a:gdLst/>
              <a:ahLst/>
              <a:cxnLst/>
              <a:rect l="l" t="t" r="r" b="b"/>
              <a:pathLst>
                <a:path w="583389" h="1707793">
                  <a:moveTo>
                    <a:pt x="345264" y="0"/>
                  </a:moveTo>
                  <a:lnTo>
                    <a:pt x="583389" y="238125"/>
                  </a:lnTo>
                  <a:lnTo>
                    <a:pt x="583389" y="1469668"/>
                  </a:lnTo>
                  <a:lnTo>
                    <a:pt x="345264" y="1707793"/>
                  </a:lnTo>
                  <a:lnTo>
                    <a:pt x="238125" y="1707793"/>
                  </a:lnTo>
                  <a:lnTo>
                    <a:pt x="0" y="1469668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345264" y="0"/>
                  </a:lnTo>
                  <a:close/>
                </a:path>
              </a:pathLst>
            </a:custGeom>
            <a:solidFill>
              <a:srgbClr val="03459D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500" y="-60325"/>
              <a:ext cx="456389" cy="1704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 rot="5400000">
            <a:off x="17243866" y="3258619"/>
            <a:ext cx="2808393" cy="3769762"/>
            <a:chOff x="0" y="0"/>
            <a:chExt cx="702142" cy="9425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702142" cy="942500"/>
            </a:xfrm>
            <a:custGeom>
              <a:avLst/>
              <a:gdLst/>
              <a:ahLst/>
              <a:cxnLst/>
              <a:rect l="l" t="t" r="r" b="b"/>
              <a:pathLst>
                <a:path w="702142" h="942500">
                  <a:moveTo>
                    <a:pt x="464017" y="0"/>
                  </a:moveTo>
                  <a:lnTo>
                    <a:pt x="702142" y="238125"/>
                  </a:lnTo>
                  <a:lnTo>
                    <a:pt x="702142" y="704375"/>
                  </a:lnTo>
                  <a:lnTo>
                    <a:pt x="464017" y="942500"/>
                  </a:lnTo>
                  <a:lnTo>
                    <a:pt x="238125" y="942500"/>
                  </a:lnTo>
                  <a:lnTo>
                    <a:pt x="0" y="7043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464017" y="0"/>
                  </a:lnTo>
                  <a:close/>
                </a:path>
              </a:pathLst>
            </a:custGeom>
            <a:solidFill>
              <a:srgbClr val="03459D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500" y="-60325"/>
              <a:ext cx="575142" cy="939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 rot="5400000">
            <a:off x="16341463" y="3258619"/>
            <a:ext cx="5941131" cy="3769762"/>
            <a:chOff x="0" y="0"/>
            <a:chExt cx="1485376" cy="9425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485376" cy="942500"/>
            </a:xfrm>
            <a:custGeom>
              <a:avLst/>
              <a:gdLst/>
              <a:ahLst/>
              <a:cxnLst/>
              <a:rect l="l" t="t" r="r" b="b"/>
              <a:pathLst>
                <a:path w="1485376" h="942500">
                  <a:moveTo>
                    <a:pt x="1247251" y="0"/>
                  </a:moveTo>
                  <a:lnTo>
                    <a:pt x="1485376" y="238125"/>
                  </a:lnTo>
                  <a:lnTo>
                    <a:pt x="1485376" y="704375"/>
                  </a:lnTo>
                  <a:lnTo>
                    <a:pt x="1247251" y="942500"/>
                  </a:lnTo>
                  <a:lnTo>
                    <a:pt x="238125" y="942500"/>
                  </a:lnTo>
                  <a:lnTo>
                    <a:pt x="0" y="7043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1247251" y="0"/>
                  </a:ln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500" y="-60325"/>
              <a:ext cx="1358376" cy="939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sp>
        <p:nvSpPr>
          <p:cNvPr id="48" name="AutoShape 48"/>
          <p:cNvSpPr/>
          <p:nvPr/>
        </p:nvSpPr>
        <p:spPr>
          <a:xfrm>
            <a:off x="10606504" y="1532397"/>
            <a:ext cx="3433173" cy="0"/>
          </a:xfrm>
          <a:prstGeom prst="line">
            <a:avLst/>
          </a:prstGeom>
          <a:ln w="38100" cap="flat">
            <a:solidFill>
              <a:srgbClr val="002C6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  <p:sp>
        <p:nvSpPr>
          <p:cNvPr id="49" name="AutoShape 49"/>
          <p:cNvSpPr/>
          <p:nvPr/>
        </p:nvSpPr>
        <p:spPr>
          <a:xfrm flipV="1">
            <a:off x="7224304" y="1532397"/>
            <a:ext cx="3393273" cy="1385077"/>
          </a:xfrm>
          <a:prstGeom prst="line">
            <a:avLst/>
          </a:prstGeom>
          <a:ln w="38100" cap="flat">
            <a:solidFill>
              <a:srgbClr val="002C6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  <p:sp>
        <p:nvSpPr>
          <p:cNvPr id="50" name="AutoShape 50"/>
          <p:cNvSpPr/>
          <p:nvPr/>
        </p:nvSpPr>
        <p:spPr>
          <a:xfrm>
            <a:off x="9928514" y="2530687"/>
            <a:ext cx="2484741" cy="0"/>
          </a:xfrm>
          <a:prstGeom prst="line">
            <a:avLst/>
          </a:prstGeom>
          <a:ln w="38100" cap="flat">
            <a:solidFill>
              <a:srgbClr val="002C6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  <p:sp>
        <p:nvSpPr>
          <p:cNvPr id="51" name="AutoShape 51"/>
          <p:cNvSpPr/>
          <p:nvPr/>
        </p:nvSpPr>
        <p:spPr>
          <a:xfrm flipV="1">
            <a:off x="7689508" y="2549737"/>
            <a:ext cx="2252948" cy="755011"/>
          </a:xfrm>
          <a:prstGeom prst="line">
            <a:avLst/>
          </a:prstGeom>
          <a:ln w="38100" cap="flat">
            <a:solidFill>
              <a:srgbClr val="002C6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  <p:sp>
        <p:nvSpPr>
          <p:cNvPr id="52" name="AutoShape 52"/>
          <p:cNvSpPr/>
          <p:nvPr/>
        </p:nvSpPr>
        <p:spPr>
          <a:xfrm flipV="1">
            <a:off x="8139828" y="3612865"/>
            <a:ext cx="2658079" cy="429303"/>
          </a:xfrm>
          <a:prstGeom prst="line">
            <a:avLst/>
          </a:prstGeom>
          <a:ln w="38100" cap="flat">
            <a:solidFill>
              <a:srgbClr val="002C6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  <p:sp>
        <p:nvSpPr>
          <p:cNvPr id="53" name="AutoShape 53"/>
          <p:cNvSpPr/>
          <p:nvPr/>
        </p:nvSpPr>
        <p:spPr>
          <a:xfrm flipV="1">
            <a:off x="8159512" y="4908470"/>
            <a:ext cx="2458066" cy="235030"/>
          </a:xfrm>
          <a:prstGeom prst="line">
            <a:avLst/>
          </a:prstGeom>
          <a:ln w="38100" cap="flat">
            <a:solidFill>
              <a:srgbClr val="002C6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  <p:sp>
        <p:nvSpPr>
          <p:cNvPr id="54" name="AutoShape 54"/>
          <p:cNvSpPr/>
          <p:nvPr/>
        </p:nvSpPr>
        <p:spPr>
          <a:xfrm>
            <a:off x="7469370" y="6130406"/>
            <a:ext cx="3269956" cy="111548"/>
          </a:xfrm>
          <a:prstGeom prst="line">
            <a:avLst/>
          </a:prstGeom>
          <a:ln w="38100" cap="flat">
            <a:solidFill>
              <a:srgbClr val="002C6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  <p:sp>
        <p:nvSpPr>
          <p:cNvPr id="55" name="AutoShape 55"/>
          <p:cNvSpPr/>
          <p:nvPr/>
        </p:nvSpPr>
        <p:spPr>
          <a:xfrm>
            <a:off x="9928514" y="7357651"/>
            <a:ext cx="2484741" cy="0"/>
          </a:xfrm>
          <a:prstGeom prst="line">
            <a:avLst/>
          </a:prstGeom>
          <a:ln w="38100" cap="flat">
            <a:solidFill>
              <a:srgbClr val="002C6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  <p:sp>
        <p:nvSpPr>
          <p:cNvPr id="56" name="AutoShape 56"/>
          <p:cNvSpPr/>
          <p:nvPr/>
        </p:nvSpPr>
        <p:spPr>
          <a:xfrm>
            <a:off x="7381734" y="6776129"/>
            <a:ext cx="2546779" cy="581522"/>
          </a:xfrm>
          <a:prstGeom prst="line">
            <a:avLst/>
          </a:prstGeom>
          <a:ln w="38100" cap="flat">
            <a:solidFill>
              <a:srgbClr val="002C6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  <p:sp>
        <p:nvSpPr>
          <p:cNvPr id="57" name="AutoShape 57"/>
          <p:cNvSpPr/>
          <p:nvPr/>
        </p:nvSpPr>
        <p:spPr>
          <a:xfrm>
            <a:off x="10702205" y="9602260"/>
            <a:ext cx="3146069" cy="0"/>
          </a:xfrm>
          <a:prstGeom prst="line">
            <a:avLst/>
          </a:prstGeom>
          <a:ln w="38100" cap="flat">
            <a:solidFill>
              <a:srgbClr val="002C6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  <p:sp>
        <p:nvSpPr>
          <p:cNvPr id="58" name="AutoShape 58"/>
          <p:cNvSpPr/>
          <p:nvPr/>
        </p:nvSpPr>
        <p:spPr>
          <a:xfrm>
            <a:off x="7032637" y="7482038"/>
            <a:ext cx="3669569" cy="2120222"/>
          </a:xfrm>
          <a:prstGeom prst="line">
            <a:avLst/>
          </a:prstGeom>
          <a:ln w="38100" cap="flat">
            <a:solidFill>
              <a:srgbClr val="002C6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  <p:grpSp>
        <p:nvGrpSpPr>
          <p:cNvPr id="59" name="Group 59"/>
          <p:cNvGrpSpPr/>
          <p:nvPr/>
        </p:nvGrpSpPr>
        <p:grpSpPr>
          <a:xfrm>
            <a:off x="602392" y="2740165"/>
            <a:ext cx="7557120" cy="4806670"/>
            <a:chOff x="0" y="0"/>
            <a:chExt cx="10076160" cy="6408893"/>
          </a:xfrm>
        </p:grpSpPr>
        <p:grpSp>
          <p:nvGrpSpPr>
            <p:cNvPr id="60" name="Group 60"/>
            <p:cNvGrpSpPr/>
            <p:nvPr/>
          </p:nvGrpSpPr>
          <p:grpSpPr>
            <a:xfrm rot="5400000">
              <a:off x="1833633" y="-1833633"/>
              <a:ext cx="6408893" cy="10076160"/>
              <a:chOff x="0" y="0"/>
              <a:chExt cx="1212991" cy="1907082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1212991" cy="1907082"/>
              </a:xfrm>
              <a:custGeom>
                <a:avLst/>
                <a:gdLst/>
                <a:ahLst/>
                <a:cxnLst/>
                <a:rect l="l" t="t" r="r" b="b"/>
                <a:pathLst>
                  <a:path w="1212991" h="1907082">
                    <a:moveTo>
                      <a:pt x="974866" y="0"/>
                    </a:moveTo>
                    <a:lnTo>
                      <a:pt x="1212991" y="238125"/>
                    </a:lnTo>
                    <a:lnTo>
                      <a:pt x="1212991" y="1668957"/>
                    </a:lnTo>
                    <a:lnTo>
                      <a:pt x="974866" y="1907082"/>
                    </a:lnTo>
                    <a:lnTo>
                      <a:pt x="238125" y="1907082"/>
                    </a:lnTo>
                    <a:lnTo>
                      <a:pt x="0" y="1668957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974866" y="0"/>
                    </a:lnTo>
                    <a:close/>
                  </a:path>
                </a:pathLst>
              </a:custGeom>
              <a:solidFill>
                <a:srgbClr val="002C66"/>
              </a:solidFill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63500" y="-60325"/>
                <a:ext cx="1085991" cy="19039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80"/>
                  </a:lnSpc>
                </a:pPr>
                <a:endParaRPr/>
              </a:p>
            </p:txBody>
          </p:sp>
        </p:grpSp>
        <p:sp>
          <p:nvSpPr>
            <p:cNvPr id="63" name="TextBox 63"/>
            <p:cNvSpPr txBox="1"/>
            <p:nvPr/>
          </p:nvSpPr>
          <p:spPr>
            <a:xfrm>
              <a:off x="385947" y="1413747"/>
              <a:ext cx="9304265" cy="350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199"/>
                </a:lnSpc>
              </a:pPr>
              <a:r>
                <a:rPr lang="en-US" sz="8499" b="1" spc="-467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Table of Content</a:t>
              </a:r>
            </a:p>
          </p:txBody>
        </p:sp>
      </p:grpSp>
      <p:sp>
        <p:nvSpPr>
          <p:cNvPr id="64" name="AutoShape 64"/>
          <p:cNvSpPr/>
          <p:nvPr/>
        </p:nvSpPr>
        <p:spPr>
          <a:xfrm>
            <a:off x="7360696" y="7372007"/>
            <a:ext cx="3341509" cy="1092156"/>
          </a:xfrm>
          <a:prstGeom prst="line">
            <a:avLst/>
          </a:prstGeom>
          <a:ln w="38100" cap="flat">
            <a:solidFill>
              <a:srgbClr val="002C6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  <p:sp>
        <p:nvSpPr>
          <p:cNvPr id="65" name="AutoShape 65"/>
          <p:cNvSpPr/>
          <p:nvPr/>
        </p:nvSpPr>
        <p:spPr>
          <a:xfrm>
            <a:off x="10702205" y="8464163"/>
            <a:ext cx="2484741" cy="0"/>
          </a:xfrm>
          <a:prstGeom prst="line">
            <a:avLst/>
          </a:prstGeom>
          <a:ln w="38100" cap="flat">
            <a:solidFill>
              <a:srgbClr val="002C6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  <p:grpSp>
        <p:nvGrpSpPr>
          <p:cNvPr id="66" name="Group 66"/>
          <p:cNvGrpSpPr/>
          <p:nvPr/>
        </p:nvGrpSpPr>
        <p:grpSpPr>
          <a:xfrm>
            <a:off x="13057219" y="8156045"/>
            <a:ext cx="3422100" cy="616235"/>
            <a:chOff x="0" y="0"/>
            <a:chExt cx="901294" cy="162301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901294" cy="162301"/>
            </a:xfrm>
            <a:custGeom>
              <a:avLst/>
              <a:gdLst/>
              <a:ahLst/>
              <a:cxnLst/>
              <a:rect l="l" t="t" r="r" b="b"/>
              <a:pathLst>
                <a:path w="901294" h="162301">
                  <a:moveTo>
                    <a:pt x="81150" y="0"/>
                  </a:moveTo>
                  <a:lnTo>
                    <a:pt x="820143" y="0"/>
                  </a:lnTo>
                  <a:cubicBezTo>
                    <a:pt x="864962" y="0"/>
                    <a:pt x="901294" y="36332"/>
                    <a:pt x="901294" y="81150"/>
                  </a:cubicBezTo>
                  <a:lnTo>
                    <a:pt x="901294" y="81150"/>
                  </a:lnTo>
                  <a:cubicBezTo>
                    <a:pt x="901294" y="125968"/>
                    <a:pt x="864962" y="162301"/>
                    <a:pt x="820143" y="162301"/>
                  </a:cubicBezTo>
                  <a:lnTo>
                    <a:pt x="81150" y="162301"/>
                  </a:lnTo>
                  <a:cubicBezTo>
                    <a:pt x="36332" y="162301"/>
                    <a:pt x="0" y="125968"/>
                    <a:pt x="0" y="81150"/>
                  </a:cubicBezTo>
                  <a:lnTo>
                    <a:pt x="0" y="81150"/>
                  </a:lnTo>
                  <a:cubicBezTo>
                    <a:pt x="0" y="36332"/>
                    <a:pt x="36332" y="0"/>
                    <a:pt x="81150" y="0"/>
                  </a:cubicBez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123825"/>
              <a:ext cx="901294" cy="286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3152921" y="8215805"/>
            <a:ext cx="3230696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140705" y="3704214"/>
            <a:ext cx="3968678" cy="9252543"/>
            <a:chOff x="0" y="0"/>
            <a:chExt cx="5291571" cy="12336724"/>
          </a:xfrm>
        </p:grpSpPr>
        <p:grpSp>
          <p:nvGrpSpPr>
            <p:cNvPr id="3" name="Group 3"/>
            <p:cNvGrpSpPr/>
            <p:nvPr/>
          </p:nvGrpSpPr>
          <p:grpSpPr>
            <a:xfrm rot="-10800000">
              <a:off x="0" y="6381617"/>
              <a:ext cx="3417647" cy="5955107"/>
              <a:chOff x="0" y="0"/>
              <a:chExt cx="645782" cy="112524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45782" cy="1125247"/>
              </a:xfrm>
              <a:custGeom>
                <a:avLst/>
                <a:gdLst/>
                <a:ahLst/>
                <a:cxnLst/>
                <a:rect l="l" t="t" r="r" b="b"/>
                <a:pathLst>
                  <a:path w="645782" h="1125247">
                    <a:moveTo>
                      <a:pt x="407657" y="0"/>
                    </a:moveTo>
                    <a:lnTo>
                      <a:pt x="645782" y="238125"/>
                    </a:lnTo>
                    <a:lnTo>
                      <a:pt x="645782" y="887122"/>
                    </a:lnTo>
                    <a:lnTo>
                      <a:pt x="407657" y="1125247"/>
                    </a:lnTo>
                    <a:lnTo>
                      <a:pt x="238125" y="1125247"/>
                    </a:lnTo>
                    <a:lnTo>
                      <a:pt x="0" y="887122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407657" y="0"/>
                    </a:lnTo>
                    <a:close/>
                  </a:path>
                </a:pathLst>
              </a:custGeom>
              <a:solidFill>
                <a:srgbClr val="03459D"/>
              </a:solidFill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63500" y="-60325"/>
                <a:ext cx="518782" cy="11220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80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 rot="-10800000">
              <a:off x="904634" y="3436274"/>
              <a:ext cx="3417647" cy="7040033"/>
              <a:chOff x="0" y="0"/>
              <a:chExt cx="645782" cy="133024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5782" cy="1330249"/>
              </a:xfrm>
              <a:custGeom>
                <a:avLst/>
                <a:gdLst/>
                <a:ahLst/>
                <a:cxnLst/>
                <a:rect l="l" t="t" r="r" b="b"/>
                <a:pathLst>
                  <a:path w="645782" h="1330249">
                    <a:moveTo>
                      <a:pt x="407657" y="0"/>
                    </a:moveTo>
                    <a:lnTo>
                      <a:pt x="645782" y="238125"/>
                    </a:lnTo>
                    <a:lnTo>
                      <a:pt x="645782" y="1092124"/>
                    </a:lnTo>
                    <a:lnTo>
                      <a:pt x="407657" y="1330249"/>
                    </a:lnTo>
                    <a:lnTo>
                      <a:pt x="238125" y="1330249"/>
                    </a:lnTo>
                    <a:lnTo>
                      <a:pt x="0" y="1092124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407657" y="0"/>
                    </a:lnTo>
                    <a:close/>
                  </a:path>
                </a:pathLst>
              </a:custGeom>
              <a:solidFill>
                <a:srgbClr val="002C66"/>
              </a:solidFill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3500" y="-60325"/>
                <a:ext cx="518782" cy="13270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80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-10800000">
              <a:off x="1873924" y="0"/>
              <a:ext cx="3417647" cy="10476307"/>
              <a:chOff x="0" y="0"/>
              <a:chExt cx="645782" cy="197955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45782" cy="1979550"/>
              </a:xfrm>
              <a:custGeom>
                <a:avLst/>
                <a:gdLst/>
                <a:ahLst/>
                <a:cxnLst/>
                <a:rect l="l" t="t" r="r" b="b"/>
                <a:pathLst>
                  <a:path w="645782" h="1979550">
                    <a:moveTo>
                      <a:pt x="407657" y="0"/>
                    </a:moveTo>
                    <a:lnTo>
                      <a:pt x="645782" y="238125"/>
                    </a:lnTo>
                    <a:lnTo>
                      <a:pt x="645782" y="1741425"/>
                    </a:lnTo>
                    <a:lnTo>
                      <a:pt x="407657" y="1979550"/>
                    </a:lnTo>
                    <a:lnTo>
                      <a:pt x="238125" y="1979550"/>
                    </a:lnTo>
                    <a:lnTo>
                      <a:pt x="0" y="1741425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407657" y="0"/>
                    </a:lnTo>
                    <a:close/>
                  </a:path>
                </a:pathLst>
              </a:custGeom>
              <a:solidFill>
                <a:srgbClr val="03459D"/>
              </a:solidFill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3500" y="-60325"/>
                <a:ext cx="518782" cy="1976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80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 rot="5400000">
            <a:off x="-1005041" y="2365719"/>
            <a:ext cx="2198673" cy="857039"/>
            <a:chOff x="0" y="0"/>
            <a:chExt cx="1824533" cy="711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24533" cy="711200"/>
            </a:xfrm>
            <a:custGeom>
              <a:avLst/>
              <a:gdLst/>
              <a:ahLst/>
              <a:cxnLst/>
              <a:rect l="l" t="t" r="r" b="b"/>
              <a:pathLst>
                <a:path w="1824533" h="711200">
                  <a:moveTo>
                    <a:pt x="912267" y="0"/>
                  </a:moveTo>
                  <a:lnTo>
                    <a:pt x="1824533" y="711200"/>
                  </a:lnTo>
                  <a:lnTo>
                    <a:pt x="0" y="711200"/>
                  </a:lnTo>
                  <a:lnTo>
                    <a:pt x="912267" y="0"/>
                  </a:ln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85083" y="206375"/>
              <a:ext cx="1254367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2462712" y="-1958903"/>
            <a:ext cx="17451121" cy="2825678"/>
            <a:chOff x="0" y="0"/>
            <a:chExt cx="23268161" cy="3767571"/>
          </a:xfrm>
        </p:grpSpPr>
        <p:grpSp>
          <p:nvGrpSpPr>
            <p:cNvPr id="16" name="Group 16"/>
            <p:cNvGrpSpPr/>
            <p:nvPr/>
          </p:nvGrpSpPr>
          <p:grpSpPr>
            <a:xfrm rot="5400000">
              <a:off x="3753799" y="-3073675"/>
              <a:ext cx="3087447" cy="10595045"/>
              <a:chOff x="0" y="0"/>
              <a:chExt cx="583389" cy="2001987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583389" cy="2001987"/>
              </a:xfrm>
              <a:custGeom>
                <a:avLst/>
                <a:gdLst/>
                <a:ahLst/>
                <a:cxnLst/>
                <a:rect l="l" t="t" r="r" b="b"/>
                <a:pathLst>
                  <a:path w="583389" h="2001987">
                    <a:moveTo>
                      <a:pt x="345264" y="0"/>
                    </a:moveTo>
                    <a:lnTo>
                      <a:pt x="583389" y="238125"/>
                    </a:lnTo>
                    <a:lnTo>
                      <a:pt x="583389" y="1763862"/>
                    </a:lnTo>
                    <a:lnTo>
                      <a:pt x="345264" y="2001987"/>
                    </a:lnTo>
                    <a:lnTo>
                      <a:pt x="238125" y="2001987"/>
                    </a:lnTo>
                    <a:lnTo>
                      <a:pt x="0" y="1763862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345264" y="0"/>
                    </a:lnTo>
                    <a:close/>
                  </a:path>
                </a:pathLst>
              </a:custGeom>
              <a:solidFill>
                <a:srgbClr val="002C66"/>
              </a:solidFill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3500" y="-60325"/>
                <a:ext cx="456389" cy="19988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8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5400000">
              <a:off x="14449964" y="-5730749"/>
              <a:ext cx="3087447" cy="14548945"/>
              <a:chOff x="0" y="0"/>
              <a:chExt cx="583389" cy="274909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583389" cy="2749096"/>
              </a:xfrm>
              <a:custGeom>
                <a:avLst/>
                <a:gdLst/>
                <a:ahLst/>
                <a:cxnLst/>
                <a:rect l="l" t="t" r="r" b="b"/>
                <a:pathLst>
                  <a:path w="583389" h="2749096">
                    <a:moveTo>
                      <a:pt x="345264" y="0"/>
                    </a:moveTo>
                    <a:lnTo>
                      <a:pt x="583389" y="238125"/>
                    </a:lnTo>
                    <a:lnTo>
                      <a:pt x="583389" y="2510971"/>
                    </a:lnTo>
                    <a:lnTo>
                      <a:pt x="345264" y="2749096"/>
                    </a:lnTo>
                    <a:lnTo>
                      <a:pt x="238125" y="2749096"/>
                    </a:lnTo>
                    <a:lnTo>
                      <a:pt x="0" y="2510971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345264" y="0"/>
                    </a:lnTo>
                    <a:close/>
                  </a:path>
                </a:pathLst>
              </a:custGeom>
              <a:solidFill>
                <a:srgbClr val="03459D"/>
              </a:solidFill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3500" y="-60325"/>
                <a:ext cx="456389" cy="2745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80"/>
                  </a:lnSpc>
                </a:pPr>
                <a:endParaRPr/>
              </a:p>
            </p:txBody>
          </p:sp>
        </p:grpSp>
      </p:grpSp>
      <p:sp>
        <p:nvSpPr>
          <p:cNvPr id="22" name="TextBox 22"/>
          <p:cNvSpPr txBox="1"/>
          <p:nvPr/>
        </p:nvSpPr>
        <p:spPr>
          <a:xfrm>
            <a:off x="1050188" y="4503176"/>
            <a:ext cx="7784892" cy="207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499" b="1" spc="7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Mapping Real Estate in Egypt</a:t>
            </a:r>
            <a:r>
              <a:rPr lang="en-US" sz="2499" spc="7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is a data-driven analysis project built to compare investment opportunities in the New Administrative Capital vs New Cairo.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50188" y="7191375"/>
            <a:ext cx="14374701" cy="155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2499" u="none" strike="noStrike" spc="7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 provides investors and developers with a clear dashboard to visualize price trends, infrastructure quality, and future growth potential, while considering economic factors like inflation and currency devaluation.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61884" y="2094952"/>
            <a:ext cx="7055644" cy="1151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u="none" strike="noStrike">
                <a:solidFill>
                  <a:srgbClr val="002C66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Overview</a:t>
            </a:r>
          </a:p>
        </p:txBody>
      </p:sp>
      <p:sp>
        <p:nvSpPr>
          <p:cNvPr id="25" name="Freeform 25"/>
          <p:cNvSpPr/>
          <p:nvPr/>
        </p:nvSpPr>
        <p:spPr>
          <a:xfrm flipH="1">
            <a:off x="9358955" y="1095071"/>
            <a:ext cx="6131480" cy="5772618"/>
          </a:xfrm>
          <a:custGeom>
            <a:avLst/>
            <a:gdLst/>
            <a:ahLst/>
            <a:cxnLst/>
            <a:rect l="l" t="t" r="r" b="b"/>
            <a:pathLst>
              <a:path w="6131480" h="5772618">
                <a:moveTo>
                  <a:pt x="6131480" y="0"/>
                </a:moveTo>
                <a:lnTo>
                  <a:pt x="0" y="0"/>
                </a:lnTo>
                <a:lnTo>
                  <a:pt x="0" y="5772618"/>
                </a:lnTo>
                <a:lnTo>
                  <a:pt x="6131480" y="5772618"/>
                </a:lnTo>
                <a:lnTo>
                  <a:pt x="6131480" y="0"/>
                </a:lnTo>
                <a:close/>
              </a:path>
            </a:pathLst>
          </a:custGeom>
          <a:blipFill>
            <a:blip r:embed="rId2"/>
            <a:stretch>
              <a:fillRect l="-9145" t="-12664" r="-11674" b="-15665"/>
            </a:stretch>
          </a:blipFill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73814" y="0"/>
            <a:ext cx="18198877" cy="10463718"/>
            <a:chOff x="0" y="0"/>
            <a:chExt cx="24265170" cy="13951624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95000"/>
            </a:blip>
            <a:srcRect t="6850" b="6850"/>
            <a:stretch>
              <a:fillRect/>
            </a:stretch>
          </p:blipFill>
          <p:spPr>
            <a:xfrm>
              <a:off x="0" y="0"/>
              <a:ext cx="24265170" cy="13951624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-6999233" y="0"/>
            <a:ext cx="23171705" cy="11705204"/>
            <a:chOff x="0" y="0"/>
            <a:chExt cx="6102836" cy="308285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102836" cy="3082852"/>
            </a:xfrm>
            <a:custGeom>
              <a:avLst/>
              <a:gdLst/>
              <a:ahLst/>
              <a:cxnLst/>
              <a:rect l="l" t="t" r="r" b="b"/>
              <a:pathLst>
                <a:path w="6102836" h="3082852">
                  <a:moveTo>
                    <a:pt x="3051418" y="3082852"/>
                  </a:moveTo>
                  <a:lnTo>
                    <a:pt x="6102836" y="0"/>
                  </a:lnTo>
                  <a:lnTo>
                    <a:pt x="0" y="0"/>
                  </a:lnTo>
                  <a:lnTo>
                    <a:pt x="3051418" y="30828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53568" y="96379"/>
              <a:ext cx="4195700" cy="15551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5400000">
            <a:off x="14838333" y="6490576"/>
            <a:ext cx="2315586" cy="7946284"/>
            <a:chOff x="0" y="0"/>
            <a:chExt cx="583389" cy="20019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83389" cy="2001987"/>
            </a:xfrm>
            <a:custGeom>
              <a:avLst/>
              <a:gdLst/>
              <a:ahLst/>
              <a:cxnLst/>
              <a:rect l="l" t="t" r="r" b="b"/>
              <a:pathLst>
                <a:path w="583389" h="2001987">
                  <a:moveTo>
                    <a:pt x="345264" y="0"/>
                  </a:moveTo>
                  <a:lnTo>
                    <a:pt x="583389" y="238125"/>
                  </a:lnTo>
                  <a:lnTo>
                    <a:pt x="583389" y="1763862"/>
                  </a:lnTo>
                  <a:lnTo>
                    <a:pt x="345264" y="2001987"/>
                  </a:lnTo>
                  <a:lnTo>
                    <a:pt x="238125" y="2001987"/>
                  </a:lnTo>
                  <a:lnTo>
                    <a:pt x="0" y="1763862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345264" y="0"/>
                  </a:ln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3500" y="-60325"/>
              <a:ext cx="456389" cy="1998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5400000">
            <a:off x="7983036" y="5159778"/>
            <a:ext cx="2315586" cy="11369879"/>
            <a:chOff x="0" y="0"/>
            <a:chExt cx="583389" cy="286452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83389" cy="2864527"/>
            </a:xfrm>
            <a:custGeom>
              <a:avLst/>
              <a:gdLst/>
              <a:ahLst/>
              <a:cxnLst/>
              <a:rect l="l" t="t" r="r" b="b"/>
              <a:pathLst>
                <a:path w="583389" h="2864527">
                  <a:moveTo>
                    <a:pt x="345264" y="0"/>
                  </a:moveTo>
                  <a:lnTo>
                    <a:pt x="583389" y="238125"/>
                  </a:lnTo>
                  <a:lnTo>
                    <a:pt x="583389" y="2626402"/>
                  </a:lnTo>
                  <a:lnTo>
                    <a:pt x="345264" y="2864527"/>
                  </a:lnTo>
                  <a:lnTo>
                    <a:pt x="238125" y="2864527"/>
                  </a:lnTo>
                  <a:lnTo>
                    <a:pt x="0" y="2626402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345264" y="0"/>
                  </a:lnTo>
                  <a:close/>
                </a:path>
              </a:pathLst>
            </a:custGeom>
            <a:solidFill>
              <a:srgbClr val="03459D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500" y="-60325"/>
              <a:ext cx="456389" cy="28613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5400000">
            <a:off x="-1038225" y="2085424"/>
            <a:ext cx="2198673" cy="857039"/>
            <a:chOff x="0" y="0"/>
            <a:chExt cx="1824533" cy="711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24533" cy="711200"/>
            </a:xfrm>
            <a:custGeom>
              <a:avLst/>
              <a:gdLst/>
              <a:ahLst/>
              <a:cxnLst/>
              <a:rect l="l" t="t" r="r" b="b"/>
              <a:pathLst>
                <a:path w="1824533" h="711200">
                  <a:moveTo>
                    <a:pt x="912267" y="0"/>
                  </a:moveTo>
                  <a:lnTo>
                    <a:pt x="1824533" y="711200"/>
                  </a:lnTo>
                  <a:lnTo>
                    <a:pt x="0" y="711200"/>
                  </a:lnTo>
                  <a:lnTo>
                    <a:pt x="912267" y="0"/>
                  </a:ln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5083" y="206375"/>
              <a:ext cx="1254367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5400000">
            <a:off x="352637" y="-3973142"/>
            <a:ext cx="2315586" cy="7946284"/>
            <a:chOff x="0" y="0"/>
            <a:chExt cx="583389" cy="200198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83389" cy="2001987"/>
            </a:xfrm>
            <a:custGeom>
              <a:avLst/>
              <a:gdLst/>
              <a:ahLst/>
              <a:cxnLst/>
              <a:rect l="l" t="t" r="r" b="b"/>
              <a:pathLst>
                <a:path w="583389" h="2001987">
                  <a:moveTo>
                    <a:pt x="345264" y="0"/>
                  </a:moveTo>
                  <a:lnTo>
                    <a:pt x="583389" y="238125"/>
                  </a:lnTo>
                  <a:lnTo>
                    <a:pt x="583389" y="1763862"/>
                  </a:lnTo>
                  <a:lnTo>
                    <a:pt x="345264" y="2001987"/>
                  </a:lnTo>
                  <a:lnTo>
                    <a:pt x="238125" y="2001987"/>
                  </a:lnTo>
                  <a:lnTo>
                    <a:pt x="0" y="1763862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345264" y="0"/>
                  </a:ln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500" y="-60325"/>
              <a:ext cx="456389" cy="1998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5400000">
            <a:off x="9185602" y="-6776788"/>
            <a:ext cx="2315586" cy="12533390"/>
            <a:chOff x="0" y="0"/>
            <a:chExt cx="583389" cy="315766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83389" cy="3157662"/>
            </a:xfrm>
            <a:custGeom>
              <a:avLst/>
              <a:gdLst/>
              <a:ahLst/>
              <a:cxnLst/>
              <a:rect l="l" t="t" r="r" b="b"/>
              <a:pathLst>
                <a:path w="583389" h="3157662">
                  <a:moveTo>
                    <a:pt x="345264" y="0"/>
                  </a:moveTo>
                  <a:lnTo>
                    <a:pt x="583389" y="238125"/>
                  </a:lnTo>
                  <a:lnTo>
                    <a:pt x="583389" y="2919537"/>
                  </a:lnTo>
                  <a:lnTo>
                    <a:pt x="345264" y="3157662"/>
                  </a:lnTo>
                  <a:lnTo>
                    <a:pt x="238125" y="3157662"/>
                  </a:lnTo>
                  <a:lnTo>
                    <a:pt x="0" y="2919537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345264" y="0"/>
                  </a:lnTo>
                  <a:close/>
                </a:path>
              </a:pathLst>
            </a:custGeom>
            <a:solidFill>
              <a:srgbClr val="03459D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500" y="-60325"/>
              <a:ext cx="456389" cy="3154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28700" y="1814657"/>
            <a:ext cx="8149471" cy="1151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>
                <a:solidFill>
                  <a:srgbClr val="002C66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4176222"/>
            <a:ext cx="9079902" cy="2586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299" spc="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Investors face</a:t>
            </a:r>
            <a:r>
              <a:rPr lang="en-US" sz="2299" b="1" spc="6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"Information Overload"</a:t>
            </a:r>
            <a:r>
              <a:rPr lang="en-US" sz="2299" spc="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and conflicting marketing claims. There is a lack of an objective, </a:t>
            </a:r>
            <a:r>
              <a:rPr lang="en-US" sz="2299" b="1" spc="6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data-backed tool</a:t>
            </a:r>
            <a:r>
              <a:rPr lang="en-US" sz="2299" spc="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to measure the real Return on Investment while considering economic factors like inflation and currency devaluation.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021633" y="1828610"/>
            <a:ext cx="2198673" cy="857039"/>
            <a:chOff x="0" y="0"/>
            <a:chExt cx="1824533" cy="711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4533" cy="711200"/>
            </a:xfrm>
            <a:custGeom>
              <a:avLst/>
              <a:gdLst/>
              <a:ahLst/>
              <a:cxnLst/>
              <a:rect l="l" t="t" r="r" b="b"/>
              <a:pathLst>
                <a:path w="1824533" h="711200">
                  <a:moveTo>
                    <a:pt x="912267" y="0"/>
                  </a:moveTo>
                  <a:lnTo>
                    <a:pt x="1824533" y="711200"/>
                  </a:lnTo>
                  <a:lnTo>
                    <a:pt x="0" y="711200"/>
                  </a:lnTo>
                  <a:lnTo>
                    <a:pt x="912267" y="0"/>
                  </a:ln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85083" y="206375"/>
              <a:ext cx="1254367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462712" y="-1667886"/>
            <a:ext cx="17451121" cy="2825678"/>
            <a:chOff x="0" y="0"/>
            <a:chExt cx="23268161" cy="3767571"/>
          </a:xfrm>
        </p:grpSpPr>
        <p:grpSp>
          <p:nvGrpSpPr>
            <p:cNvPr id="6" name="Group 6"/>
            <p:cNvGrpSpPr/>
            <p:nvPr/>
          </p:nvGrpSpPr>
          <p:grpSpPr>
            <a:xfrm rot="5400000">
              <a:off x="3753799" y="-3073675"/>
              <a:ext cx="3087447" cy="10595045"/>
              <a:chOff x="0" y="0"/>
              <a:chExt cx="583389" cy="200198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583389" cy="2001987"/>
              </a:xfrm>
              <a:custGeom>
                <a:avLst/>
                <a:gdLst/>
                <a:ahLst/>
                <a:cxnLst/>
                <a:rect l="l" t="t" r="r" b="b"/>
                <a:pathLst>
                  <a:path w="583389" h="2001987">
                    <a:moveTo>
                      <a:pt x="345264" y="0"/>
                    </a:moveTo>
                    <a:lnTo>
                      <a:pt x="583389" y="238125"/>
                    </a:lnTo>
                    <a:lnTo>
                      <a:pt x="583389" y="1763862"/>
                    </a:lnTo>
                    <a:lnTo>
                      <a:pt x="345264" y="2001987"/>
                    </a:lnTo>
                    <a:lnTo>
                      <a:pt x="238125" y="2001987"/>
                    </a:lnTo>
                    <a:lnTo>
                      <a:pt x="0" y="1763862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345264" y="0"/>
                    </a:lnTo>
                    <a:close/>
                  </a:path>
                </a:pathLst>
              </a:custGeom>
              <a:solidFill>
                <a:srgbClr val="002C66"/>
              </a:solidFill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3500" y="-60325"/>
                <a:ext cx="456389" cy="19988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80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5400000">
              <a:off x="14449964" y="-5730749"/>
              <a:ext cx="3087447" cy="14548945"/>
              <a:chOff x="0" y="0"/>
              <a:chExt cx="583389" cy="274909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83389" cy="2749096"/>
              </a:xfrm>
              <a:custGeom>
                <a:avLst/>
                <a:gdLst/>
                <a:ahLst/>
                <a:cxnLst/>
                <a:rect l="l" t="t" r="r" b="b"/>
                <a:pathLst>
                  <a:path w="583389" h="2749096">
                    <a:moveTo>
                      <a:pt x="345264" y="0"/>
                    </a:moveTo>
                    <a:lnTo>
                      <a:pt x="583389" y="238125"/>
                    </a:lnTo>
                    <a:lnTo>
                      <a:pt x="583389" y="2510971"/>
                    </a:lnTo>
                    <a:lnTo>
                      <a:pt x="345264" y="2749096"/>
                    </a:lnTo>
                    <a:lnTo>
                      <a:pt x="238125" y="2749096"/>
                    </a:lnTo>
                    <a:lnTo>
                      <a:pt x="0" y="2510971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345264" y="0"/>
                    </a:lnTo>
                    <a:close/>
                  </a:path>
                </a:pathLst>
              </a:custGeom>
              <a:solidFill>
                <a:srgbClr val="03459D"/>
              </a:solidFill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3500" y="-60325"/>
                <a:ext cx="456389" cy="2745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80"/>
                  </a:lnSpc>
                </a:pPr>
                <a:endParaRPr/>
              </a:p>
            </p:txBody>
          </p:sp>
        </p:grpSp>
      </p:grp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1028700" y="3463877"/>
          <a:ext cx="16230600" cy="6081251"/>
        </p:xfrm>
        <a:graphic>
          <a:graphicData uri="http://schemas.openxmlformats.org/drawingml/2006/table">
            <a:tbl>
              <a:tblPr/>
              <a:tblGrid>
                <a:gridCol w="2877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60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7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31036">
                <a:tc>
                  <a:txBody>
                    <a:bodyPr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sz="3600" b="1">
                          <a:solidFill>
                            <a:srgbClr val="FFFFFF"/>
                          </a:solidFill>
                          <a:latin typeface="Roboto Condensed Bold"/>
                          <a:ea typeface="Roboto Condensed Bold"/>
                          <a:cs typeface="Roboto Condensed Bold"/>
                          <a:sym typeface="Roboto Condensed Bold"/>
                        </a:rPr>
                        <a:t>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sz="3600" b="1">
                          <a:solidFill>
                            <a:srgbClr val="FFFFFF"/>
                          </a:solidFill>
                          <a:latin typeface="Roboto Condensed Bold"/>
                          <a:ea typeface="Roboto Condensed Bold"/>
                          <a:cs typeface="Roboto Condensed Bold"/>
                          <a:sym typeface="Roboto Condensed Bold"/>
                        </a:rPr>
                        <a:t>Source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sz="3600" b="1">
                          <a:solidFill>
                            <a:srgbClr val="FFFFFF"/>
                          </a:solidFill>
                          <a:latin typeface="Roboto Condensed Bold"/>
                          <a:ea typeface="Roboto Condensed Bold"/>
                          <a:cs typeface="Roboto Condensed Bold"/>
                          <a:sym typeface="Roboto Condensed Bold"/>
                        </a:rPr>
                        <a:t>Format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3324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2C6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Dubbizle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2C6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https://www.dubizzle.com.eg/en/new-cairo/</a:t>
                      </a:r>
                      <a:endParaRPr lang="en-US" sz="1100"/>
                    </a:p>
                    <a:p>
                      <a:pPr algn="l">
                        <a:lnSpc>
                          <a:spcPts val="3079"/>
                        </a:lnSpc>
                      </a:pPr>
                      <a:r>
                        <a:rPr lang="en-US" sz="2199">
                          <a:solidFill>
                            <a:srgbClr val="002C6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https://www.dubizzle.com.eg/en/new-capital-city/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2C6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CSV/XLSX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4860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2C6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PropertyFinder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2C6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https://www.propertyfinder.eg/en/search?l=2255&amp;c=1&amp;fu=0&amp;ob=mr</a:t>
                      </a:r>
                      <a:endParaRPr lang="en-US" sz="1100"/>
                    </a:p>
                    <a:p>
                      <a:pPr algn="l">
                        <a:lnSpc>
                          <a:spcPts val="3079"/>
                        </a:lnSpc>
                      </a:pPr>
                      <a:r>
                        <a:rPr lang="en-US" sz="2199">
                          <a:solidFill>
                            <a:srgbClr val="002C6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https://www.propertyfinder.eg/en/search?l=40470&amp;c=1&amp;fu=0&amp;ob=mr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2C6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XLSX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2031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2C6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Kaggle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2C6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https://www.kaggle.com/datasets/hassankhaled21/egyptian-real-estate-listings</a:t>
                      </a:r>
                      <a:endParaRPr lang="en-US" sz="1100"/>
                    </a:p>
                    <a:p>
                      <a:pPr algn="l">
                        <a:lnSpc>
                          <a:spcPts val="3079"/>
                        </a:lnSpc>
                      </a:pPr>
                      <a:r>
                        <a:rPr lang="en-US" sz="2199">
                          <a:solidFill>
                            <a:srgbClr val="002C6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https://www.kaggle.com/datasets/mohamedebrahim88/greater-cairo-real-estate-prices-dataset</a:t>
                      </a:r>
                    </a:p>
                    <a:p>
                      <a:pPr algn="l">
                        <a:lnSpc>
                          <a:spcPts val="3079"/>
                        </a:lnSpc>
                      </a:pPr>
                      <a:r>
                        <a:rPr lang="en-US" sz="2199">
                          <a:solidFill>
                            <a:srgbClr val="002C6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https://www.kaggle.com/datasets/iyadelwy/egypt-housing-prices</a:t>
                      </a:r>
                    </a:p>
                    <a:p>
                      <a:pPr algn="l">
                        <a:lnSpc>
                          <a:spcPts val="3079"/>
                        </a:lnSpc>
                      </a:pPr>
                      <a:r>
                        <a:rPr lang="en-US" sz="2199">
                          <a:solidFill>
                            <a:srgbClr val="002C6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https://www.kaggle.com/datasets/mohammedaltet/egypt-houses-price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2C6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CSV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3" name="Group 13"/>
          <p:cNvGrpSpPr/>
          <p:nvPr/>
        </p:nvGrpSpPr>
        <p:grpSpPr>
          <a:xfrm>
            <a:off x="16140705" y="3704214"/>
            <a:ext cx="3968678" cy="9252543"/>
            <a:chOff x="0" y="0"/>
            <a:chExt cx="5291571" cy="12336724"/>
          </a:xfrm>
        </p:grpSpPr>
        <p:grpSp>
          <p:nvGrpSpPr>
            <p:cNvPr id="14" name="Group 14"/>
            <p:cNvGrpSpPr/>
            <p:nvPr/>
          </p:nvGrpSpPr>
          <p:grpSpPr>
            <a:xfrm rot="-10800000">
              <a:off x="0" y="6381617"/>
              <a:ext cx="3417647" cy="5955107"/>
              <a:chOff x="0" y="0"/>
              <a:chExt cx="645782" cy="1125247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645782" cy="1125247"/>
              </a:xfrm>
              <a:custGeom>
                <a:avLst/>
                <a:gdLst/>
                <a:ahLst/>
                <a:cxnLst/>
                <a:rect l="l" t="t" r="r" b="b"/>
                <a:pathLst>
                  <a:path w="645782" h="1125247">
                    <a:moveTo>
                      <a:pt x="407657" y="0"/>
                    </a:moveTo>
                    <a:lnTo>
                      <a:pt x="645782" y="238125"/>
                    </a:lnTo>
                    <a:lnTo>
                      <a:pt x="645782" y="887122"/>
                    </a:lnTo>
                    <a:lnTo>
                      <a:pt x="407657" y="1125247"/>
                    </a:lnTo>
                    <a:lnTo>
                      <a:pt x="238125" y="1125247"/>
                    </a:lnTo>
                    <a:lnTo>
                      <a:pt x="0" y="887122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407657" y="0"/>
                    </a:lnTo>
                    <a:close/>
                  </a:path>
                </a:pathLst>
              </a:custGeom>
              <a:solidFill>
                <a:srgbClr val="03459D"/>
              </a:solidFill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3500" y="-60325"/>
                <a:ext cx="518782" cy="11220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80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-10800000">
              <a:off x="904634" y="3436274"/>
              <a:ext cx="3417647" cy="7040033"/>
              <a:chOff x="0" y="0"/>
              <a:chExt cx="645782" cy="1330249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645782" cy="1330249"/>
              </a:xfrm>
              <a:custGeom>
                <a:avLst/>
                <a:gdLst/>
                <a:ahLst/>
                <a:cxnLst/>
                <a:rect l="l" t="t" r="r" b="b"/>
                <a:pathLst>
                  <a:path w="645782" h="1330249">
                    <a:moveTo>
                      <a:pt x="407657" y="0"/>
                    </a:moveTo>
                    <a:lnTo>
                      <a:pt x="645782" y="238125"/>
                    </a:lnTo>
                    <a:lnTo>
                      <a:pt x="645782" y="1092124"/>
                    </a:lnTo>
                    <a:lnTo>
                      <a:pt x="407657" y="1330249"/>
                    </a:lnTo>
                    <a:lnTo>
                      <a:pt x="238125" y="1330249"/>
                    </a:lnTo>
                    <a:lnTo>
                      <a:pt x="0" y="1092124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407657" y="0"/>
                    </a:lnTo>
                    <a:close/>
                  </a:path>
                </a:pathLst>
              </a:custGeom>
              <a:solidFill>
                <a:srgbClr val="002C66"/>
              </a:solidFill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3500" y="-60325"/>
                <a:ext cx="518782" cy="13270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80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-10800000">
              <a:off x="1873924" y="0"/>
              <a:ext cx="3417647" cy="10476307"/>
              <a:chOff x="0" y="0"/>
              <a:chExt cx="645782" cy="197955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645782" cy="1979550"/>
              </a:xfrm>
              <a:custGeom>
                <a:avLst/>
                <a:gdLst/>
                <a:ahLst/>
                <a:cxnLst/>
                <a:rect l="l" t="t" r="r" b="b"/>
                <a:pathLst>
                  <a:path w="645782" h="1979550">
                    <a:moveTo>
                      <a:pt x="407657" y="0"/>
                    </a:moveTo>
                    <a:lnTo>
                      <a:pt x="645782" y="238125"/>
                    </a:lnTo>
                    <a:lnTo>
                      <a:pt x="645782" y="1741425"/>
                    </a:lnTo>
                    <a:lnTo>
                      <a:pt x="407657" y="1979550"/>
                    </a:lnTo>
                    <a:lnTo>
                      <a:pt x="238125" y="1979550"/>
                    </a:lnTo>
                    <a:lnTo>
                      <a:pt x="0" y="1741425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407657" y="0"/>
                    </a:lnTo>
                    <a:close/>
                  </a:path>
                </a:pathLst>
              </a:custGeom>
              <a:solidFill>
                <a:srgbClr val="03459D"/>
              </a:solidFill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3500" y="-60325"/>
                <a:ext cx="518782" cy="1976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80"/>
                  </a:lnSpc>
                </a:pPr>
                <a:endParaRPr/>
              </a:p>
            </p:txBody>
          </p:sp>
        </p:grpSp>
      </p:grpSp>
      <p:sp>
        <p:nvSpPr>
          <p:cNvPr id="23" name="TextBox 23"/>
          <p:cNvSpPr txBox="1"/>
          <p:nvPr/>
        </p:nvSpPr>
        <p:spPr>
          <a:xfrm>
            <a:off x="1028700" y="1590697"/>
            <a:ext cx="5580305" cy="1151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>
                <a:solidFill>
                  <a:srgbClr val="002C66"/>
                </a:solidFill>
                <a:latin typeface="Poppins Bold"/>
                <a:ea typeface="Poppins Bold"/>
                <a:cs typeface="Poppins Bold"/>
                <a:sym typeface="Poppins Bold"/>
              </a:rPr>
              <a:t>Data Sources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021633" y="1828610"/>
            <a:ext cx="2198673" cy="857039"/>
            <a:chOff x="0" y="0"/>
            <a:chExt cx="1824533" cy="711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4533" cy="711200"/>
            </a:xfrm>
            <a:custGeom>
              <a:avLst/>
              <a:gdLst/>
              <a:ahLst/>
              <a:cxnLst/>
              <a:rect l="l" t="t" r="r" b="b"/>
              <a:pathLst>
                <a:path w="1824533" h="711200">
                  <a:moveTo>
                    <a:pt x="912267" y="0"/>
                  </a:moveTo>
                  <a:lnTo>
                    <a:pt x="1824533" y="711200"/>
                  </a:lnTo>
                  <a:lnTo>
                    <a:pt x="0" y="711200"/>
                  </a:lnTo>
                  <a:lnTo>
                    <a:pt x="912267" y="0"/>
                  </a:ln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85083" y="206375"/>
              <a:ext cx="1254367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462712" y="-1667886"/>
            <a:ext cx="17451121" cy="2825678"/>
            <a:chOff x="0" y="0"/>
            <a:chExt cx="23268161" cy="3767571"/>
          </a:xfrm>
        </p:grpSpPr>
        <p:grpSp>
          <p:nvGrpSpPr>
            <p:cNvPr id="6" name="Group 6"/>
            <p:cNvGrpSpPr/>
            <p:nvPr/>
          </p:nvGrpSpPr>
          <p:grpSpPr>
            <a:xfrm rot="5400000">
              <a:off x="3753799" y="-3073675"/>
              <a:ext cx="3087447" cy="10595045"/>
              <a:chOff x="0" y="0"/>
              <a:chExt cx="583389" cy="200198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583389" cy="2001987"/>
              </a:xfrm>
              <a:custGeom>
                <a:avLst/>
                <a:gdLst/>
                <a:ahLst/>
                <a:cxnLst/>
                <a:rect l="l" t="t" r="r" b="b"/>
                <a:pathLst>
                  <a:path w="583389" h="2001987">
                    <a:moveTo>
                      <a:pt x="345264" y="0"/>
                    </a:moveTo>
                    <a:lnTo>
                      <a:pt x="583389" y="238125"/>
                    </a:lnTo>
                    <a:lnTo>
                      <a:pt x="583389" y="1763862"/>
                    </a:lnTo>
                    <a:lnTo>
                      <a:pt x="345264" y="2001987"/>
                    </a:lnTo>
                    <a:lnTo>
                      <a:pt x="238125" y="2001987"/>
                    </a:lnTo>
                    <a:lnTo>
                      <a:pt x="0" y="1763862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345264" y="0"/>
                    </a:lnTo>
                    <a:close/>
                  </a:path>
                </a:pathLst>
              </a:custGeom>
              <a:solidFill>
                <a:srgbClr val="002C66"/>
              </a:solidFill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3500" y="-60325"/>
                <a:ext cx="456389" cy="19988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80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5400000">
              <a:off x="14449964" y="-5730749"/>
              <a:ext cx="3087447" cy="14548945"/>
              <a:chOff x="0" y="0"/>
              <a:chExt cx="583389" cy="274909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83389" cy="2749096"/>
              </a:xfrm>
              <a:custGeom>
                <a:avLst/>
                <a:gdLst/>
                <a:ahLst/>
                <a:cxnLst/>
                <a:rect l="l" t="t" r="r" b="b"/>
                <a:pathLst>
                  <a:path w="583389" h="2749096">
                    <a:moveTo>
                      <a:pt x="345264" y="0"/>
                    </a:moveTo>
                    <a:lnTo>
                      <a:pt x="583389" y="238125"/>
                    </a:lnTo>
                    <a:lnTo>
                      <a:pt x="583389" y="2510971"/>
                    </a:lnTo>
                    <a:lnTo>
                      <a:pt x="345264" y="2749096"/>
                    </a:lnTo>
                    <a:lnTo>
                      <a:pt x="238125" y="2749096"/>
                    </a:lnTo>
                    <a:lnTo>
                      <a:pt x="0" y="2510971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345264" y="0"/>
                    </a:lnTo>
                    <a:close/>
                  </a:path>
                </a:pathLst>
              </a:custGeom>
              <a:solidFill>
                <a:srgbClr val="03459D"/>
              </a:solidFill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3500" y="-60325"/>
                <a:ext cx="456389" cy="2745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80"/>
                  </a:lnSpc>
                </a:pPr>
                <a:endParaRPr/>
              </a:p>
            </p:txBody>
          </p:sp>
        </p:grpSp>
      </p:grp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940400" y="3479792"/>
          <a:ext cx="16318900" cy="5778509"/>
        </p:xfrm>
        <a:graphic>
          <a:graphicData uri="http://schemas.openxmlformats.org/drawingml/2006/table">
            <a:tbl>
              <a:tblPr/>
              <a:tblGrid>
                <a:gridCol w="2959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02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71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88968">
                <a:tc>
                  <a:txBody>
                    <a:bodyPr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sz="3600" b="1">
                          <a:solidFill>
                            <a:srgbClr val="FFFFFF"/>
                          </a:solidFill>
                          <a:latin typeface="Roboto Condensed Bold"/>
                          <a:ea typeface="Roboto Condensed Bold"/>
                          <a:cs typeface="Roboto Condensed Bold"/>
                          <a:sym typeface="Roboto Condensed Bold"/>
                        </a:rPr>
                        <a:t>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sz="3600" b="1">
                          <a:solidFill>
                            <a:srgbClr val="FFFFFF"/>
                          </a:solidFill>
                          <a:latin typeface="Roboto Condensed Bold"/>
                          <a:ea typeface="Roboto Condensed Bold"/>
                          <a:cs typeface="Roboto Condensed Bold"/>
                          <a:sym typeface="Roboto Condensed Bold"/>
                        </a:rPr>
                        <a:t>Source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sz="3600" b="1">
                          <a:solidFill>
                            <a:srgbClr val="FFFFFF"/>
                          </a:solidFill>
                          <a:latin typeface="Roboto Condensed Bold"/>
                          <a:ea typeface="Roboto Condensed Bold"/>
                          <a:cs typeface="Roboto Condensed Bold"/>
                          <a:sym typeface="Roboto Condensed Bold"/>
                        </a:rPr>
                        <a:t>Format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7899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2C6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CAPMAS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2C6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https://www.capmas.gov.eg/data/mainSubject/1/subSubject/18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2C6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PDF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0821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2C6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World Bank Group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2C6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https://www.worldbank.org/ext/en/home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2C6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PDF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0821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2C6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Central Bank of Egypt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2C6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https://www.cbe.org.eg/en/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2C66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PDF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45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3" name="Group 13"/>
          <p:cNvGrpSpPr/>
          <p:nvPr/>
        </p:nvGrpSpPr>
        <p:grpSpPr>
          <a:xfrm>
            <a:off x="16140705" y="3704214"/>
            <a:ext cx="3968678" cy="9252543"/>
            <a:chOff x="0" y="0"/>
            <a:chExt cx="5291571" cy="12336724"/>
          </a:xfrm>
        </p:grpSpPr>
        <p:grpSp>
          <p:nvGrpSpPr>
            <p:cNvPr id="14" name="Group 14"/>
            <p:cNvGrpSpPr/>
            <p:nvPr/>
          </p:nvGrpSpPr>
          <p:grpSpPr>
            <a:xfrm rot="-10800000">
              <a:off x="0" y="6381617"/>
              <a:ext cx="3417647" cy="5955107"/>
              <a:chOff x="0" y="0"/>
              <a:chExt cx="645782" cy="1125247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645782" cy="1125247"/>
              </a:xfrm>
              <a:custGeom>
                <a:avLst/>
                <a:gdLst/>
                <a:ahLst/>
                <a:cxnLst/>
                <a:rect l="l" t="t" r="r" b="b"/>
                <a:pathLst>
                  <a:path w="645782" h="1125247">
                    <a:moveTo>
                      <a:pt x="407657" y="0"/>
                    </a:moveTo>
                    <a:lnTo>
                      <a:pt x="645782" y="238125"/>
                    </a:lnTo>
                    <a:lnTo>
                      <a:pt x="645782" y="887122"/>
                    </a:lnTo>
                    <a:lnTo>
                      <a:pt x="407657" y="1125247"/>
                    </a:lnTo>
                    <a:lnTo>
                      <a:pt x="238125" y="1125247"/>
                    </a:lnTo>
                    <a:lnTo>
                      <a:pt x="0" y="887122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407657" y="0"/>
                    </a:lnTo>
                    <a:close/>
                  </a:path>
                </a:pathLst>
              </a:custGeom>
              <a:solidFill>
                <a:srgbClr val="03459D"/>
              </a:solidFill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3500" y="-60325"/>
                <a:ext cx="518782" cy="11220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80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-10800000">
              <a:off x="904634" y="3436274"/>
              <a:ext cx="3417647" cy="7040033"/>
              <a:chOff x="0" y="0"/>
              <a:chExt cx="645782" cy="1330249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645782" cy="1330249"/>
              </a:xfrm>
              <a:custGeom>
                <a:avLst/>
                <a:gdLst/>
                <a:ahLst/>
                <a:cxnLst/>
                <a:rect l="l" t="t" r="r" b="b"/>
                <a:pathLst>
                  <a:path w="645782" h="1330249">
                    <a:moveTo>
                      <a:pt x="407657" y="0"/>
                    </a:moveTo>
                    <a:lnTo>
                      <a:pt x="645782" y="238125"/>
                    </a:lnTo>
                    <a:lnTo>
                      <a:pt x="645782" y="1092124"/>
                    </a:lnTo>
                    <a:lnTo>
                      <a:pt x="407657" y="1330249"/>
                    </a:lnTo>
                    <a:lnTo>
                      <a:pt x="238125" y="1330249"/>
                    </a:lnTo>
                    <a:lnTo>
                      <a:pt x="0" y="1092124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407657" y="0"/>
                    </a:lnTo>
                    <a:close/>
                  </a:path>
                </a:pathLst>
              </a:custGeom>
              <a:solidFill>
                <a:srgbClr val="002C66"/>
              </a:solidFill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3500" y="-60325"/>
                <a:ext cx="518782" cy="13270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80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-10800000">
              <a:off x="1873924" y="0"/>
              <a:ext cx="3417647" cy="10476307"/>
              <a:chOff x="0" y="0"/>
              <a:chExt cx="645782" cy="197955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645782" cy="1979550"/>
              </a:xfrm>
              <a:custGeom>
                <a:avLst/>
                <a:gdLst/>
                <a:ahLst/>
                <a:cxnLst/>
                <a:rect l="l" t="t" r="r" b="b"/>
                <a:pathLst>
                  <a:path w="645782" h="1979550">
                    <a:moveTo>
                      <a:pt x="407657" y="0"/>
                    </a:moveTo>
                    <a:lnTo>
                      <a:pt x="645782" y="238125"/>
                    </a:lnTo>
                    <a:lnTo>
                      <a:pt x="645782" y="1741425"/>
                    </a:lnTo>
                    <a:lnTo>
                      <a:pt x="407657" y="1979550"/>
                    </a:lnTo>
                    <a:lnTo>
                      <a:pt x="238125" y="1979550"/>
                    </a:lnTo>
                    <a:lnTo>
                      <a:pt x="0" y="1741425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407657" y="0"/>
                    </a:lnTo>
                    <a:close/>
                  </a:path>
                </a:pathLst>
              </a:custGeom>
              <a:solidFill>
                <a:srgbClr val="03459D"/>
              </a:solidFill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3500" y="-60325"/>
                <a:ext cx="518782" cy="1976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80"/>
                  </a:lnSpc>
                </a:pPr>
                <a:endParaRPr/>
              </a:p>
            </p:txBody>
          </p:sp>
        </p:grpSp>
      </p:grpSp>
      <p:sp>
        <p:nvSpPr>
          <p:cNvPr id="23" name="TextBox 23"/>
          <p:cNvSpPr txBox="1"/>
          <p:nvPr/>
        </p:nvSpPr>
        <p:spPr>
          <a:xfrm>
            <a:off x="1028700" y="1590697"/>
            <a:ext cx="6743700" cy="1095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dirty="0">
                <a:solidFill>
                  <a:srgbClr val="002C66"/>
                </a:solidFill>
                <a:latin typeface="Poppins Bold"/>
                <a:ea typeface="Poppins Bold"/>
                <a:cs typeface="Poppins Bold"/>
                <a:sym typeface="Poppins Bold"/>
              </a:rPr>
              <a:t>Data Sources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462712" y="-1667886"/>
            <a:ext cx="17451121" cy="2825678"/>
            <a:chOff x="0" y="0"/>
            <a:chExt cx="23268161" cy="3767571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3753799" y="-3073675"/>
              <a:ext cx="3087447" cy="10595045"/>
              <a:chOff x="0" y="0"/>
              <a:chExt cx="583389" cy="200198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583389" cy="2001987"/>
              </a:xfrm>
              <a:custGeom>
                <a:avLst/>
                <a:gdLst/>
                <a:ahLst/>
                <a:cxnLst/>
                <a:rect l="l" t="t" r="r" b="b"/>
                <a:pathLst>
                  <a:path w="583389" h="2001987">
                    <a:moveTo>
                      <a:pt x="345264" y="0"/>
                    </a:moveTo>
                    <a:lnTo>
                      <a:pt x="583389" y="238125"/>
                    </a:lnTo>
                    <a:lnTo>
                      <a:pt x="583389" y="1763862"/>
                    </a:lnTo>
                    <a:lnTo>
                      <a:pt x="345264" y="2001987"/>
                    </a:lnTo>
                    <a:lnTo>
                      <a:pt x="238125" y="2001987"/>
                    </a:lnTo>
                    <a:lnTo>
                      <a:pt x="0" y="1763862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345264" y="0"/>
                    </a:lnTo>
                    <a:close/>
                  </a:path>
                </a:pathLst>
              </a:custGeom>
              <a:solidFill>
                <a:srgbClr val="002C66"/>
              </a:solidFill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63500" y="-60325"/>
                <a:ext cx="456389" cy="19988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80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 rot="5400000">
              <a:off x="14449964" y="-5730749"/>
              <a:ext cx="3087447" cy="14548945"/>
              <a:chOff x="0" y="0"/>
              <a:chExt cx="583389" cy="274909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583389" cy="2749096"/>
              </a:xfrm>
              <a:custGeom>
                <a:avLst/>
                <a:gdLst/>
                <a:ahLst/>
                <a:cxnLst/>
                <a:rect l="l" t="t" r="r" b="b"/>
                <a:pathLst>
                  <a:path w="583389" h="2749096">
                    <a:moveTo>
                      <a:pt x="345264" y="0"/>
                    </a:moveTo>
                    <a:lnTo>
                      <a:pt x="583389" y="238125"/>
                    </a:lnTo>
                    <a:lnTo>
                      <a:pt x="583389" y="2510971"/>
                    </a:lnTo>
                    <a:lnTo>
                      <a:pt x="345264" y="2749096"/>
                    </a:lnTo>
                    <a:lnTo>
                      <a:pt x="238125" y="2749096"/>
                    </a:lnTo>
                    <a:lnTo>
                      <a:pt x="0" y="2510971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345264" y="0"/>
                    </a:lnTo>
                    <a:close/>
                  </a:path>
                </a:pathLst>
              </a:custGeom>
              <a:solidFill>
                <a:srgbClr val="03459D"/>
              </a:solidFill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3500" y="-60325"/>
                <a:ext cx="456389" cy="2745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80"/>
                  </a:lnSpc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16140705" y="3704214"/>
            <a:ext cx="3968678" cy="9252543"/>
            <a:chOff x="0" y="0"/>
            <a:chExt cx="5291571" cy="12336724"/>
          </a:xfrm>
        </p:grpSpPr>
        <p:grpSp>
          <p:nvGrpSpPr>
            <p:cNvPr id="10" name="Group 10"/>
            <p:cNvGrpSpPr/>
            <p:nvPr/>
          </p:nvGrpSpPr>
          <p:grpSpPr>
            <a:xfrm rot="-10800000">
              <a:off x="0" y="6381617"/>
              <a:ext cx="3417647" cy="5955107"/>
              <a:chOff x="0" y="0"/>
              <a:chExt cx="645782" cy="112524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45782" cy="1125247"/>
              </a:xfrm>
              <a:custGeom>
                <a:avLst/>
                <a:gdLst/>
                <a:ahLst/>
                <a:cxnLst/>
                <a:rect l="l" t="t" r="r" b="b"/>
                <a:pathLst>
                  <a:path w="645782" h="1125247">
                    <a:moveTo>
                      <a:pt x="407657" y="0"/>
                    </a:moveTo>
                    <a:lnTo>
                      <a:pt x="645782" y="238125"/>
                    </a:lnTo>
                    <a:lnTo>
                      <a:pt x="645782" y="887122"/>
                    </a:lnTo>
                    <a:lnTo>
                      <a:pt x="407657" y="1125247"/>
                    </a:lnTo>
                    <a:lnTo>
                      <a:pt x="238125" y="1125247"/>
                    </a:lnTo>
                    <a:lnTo>
                      <a:pt x="0" y="887122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407657" y="0"/>
                    </a:lnTo>
                    <a:close/>
                  </a:path>
                </a:pathLst>
              </a:custGeom>
              <a:solidFill>
                <a:srgbClr val="03459D"/>
              </a:solidFill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3500" y="-60325"/>
                <a:ext cx="518782" cy="11220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80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-10800000">
              <a:off x="904634" y="3436274"/>
              <a:ext cx="3417647" cy="7040033"/>
              <a:chOff x="0" y="0"/>
              <a:chExt cx="645782" cy="1330249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45782" cy="1330249"/>
              </a:xfrm>
              <a:custGeom>
                <a:avLst/>
                <a:gdLst/>
                <a:ahLst/>
                <a:cxnLst/>
                <a:rect l="l" t="t" r="r" b="b"/>
                <a:pathLst>
                  <a:path w="645782" h="1330249">
                    <a:moveTo>
                      <a:pt x="407657" y="0"/>
                    </a:moveTo>
                    <a:lnTo>
                      <a:pt x="645782" y="238125"/>
                    </a:lnTo>
                    <a:lnTo>
                      <a:pt x="645782" y="1092124"/>
                    </a:lnTo>
                    <a:lnTo>
                      <a:pt x="407657" y="1330249"/>
                    </a:lnTo>
                    <a:lnTo>
                      <a:pt x="238125" y="1330249"/>
                    </a:lnTo>
                    <a:lnTo>
                      <a:pt x="0" y="1092124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407657" y="0"/>
                    </a:lnTo>
                    <a:close/>
                  </a:path>
                </a:pathLst>
              </a:custGeom>
              <a:solidFill>
                <a:srgbClr val="002C66"/>
              </a:solidFill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3500" y="-60325"/>
                <a:ext cx="518782" cy="13270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80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10800000">
              <a:off x="1873924" y="0"/>
              <a:ext cx="3417647" cy="10476307"/>
              <a:chOff x="0" y="0"/>
              <a:chExt cx="645782" cy="197955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645782" cy="1979550"/>
              </a:xfrm>
              <a:custGeom>
                <a:avLst/>
                <a:gdLst/>
                <a:ahLst/>
                <a:cxnLst/>
                <a:rect l="l" t="t" r="r" b="b"/>
                <a:pathLst>
                  <a:path w="645782" h="1979550">
                    <a:moveTo>
                      <a:pt x="407657" y="0"/>
                    </a:moveTo>
                    <a:lnTo>
                      <a:pt x="645782" y="238125"/>
                    </a:lnTo>
                    <a:lnTo>
                      <a:pt x="645782" y="1741425"/>
                    </a:lnTo>
                    <a:lnTo>
                      <a:pt x="407657" y="1979550"/>
                    </a:lnTo>
                    <a:lnTo>
                      <a:pt x="238125" y="1979550"/>
                    </a:lnTo>
                    <a:lnTo>
                      <a:pt x="0" y="1741425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407657" y="0"/>
                    </a:lnTo>
                    <a:close/>
                  </a:path>
                </a:pathLst>
              </a:custGeom>
              <a:solidFill>
                <a:srgbClr val="03459D"/>
              </a:solidFill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3500" y="-60325"/>
                <a:ext cx="518782" cy="1976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80"/>
                  </a:lnSpc>
                </a:pPr>
                <a:endParaRPr/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 rot="5400000">
            <a:off x="-1021633" y="1828610"/>
            <a:ext cx="2198673" cy="857039"/>
            <a:chOff x="0" y="0"/>
            <a:chExt cx="1824533" cy="711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824533" cy="711200"/>
            </a:xfrm>
            <a:custGeom>
              <a:avLst/>
              <a:gdLst/>
              <a:ahLst/>
              <a:cxnLst/>
              <a:rect l="l" t="t" r="r" b="b"/>
              <a:pathLst>
                <a:path w="1824533" h="711200">
                  <a:moveTo>
                    <a:pt x="912267" y="0"/>
                  </a:moveTo>
                  <a:lnTo>
                    <a:pt x="1824533" y="711200"/>
                  </a:lnTo>
                  <a:lnTo>
                    <a:pt x="0" y="711200"/>
                  </a:lnTo>
                  <a:lnTo>
                    <a:pt x="912267" y="0"/>
                  </a:ln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85083" y="206375"/>
              <a:ext cx="1254367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28700" y="1682259"/>
            <a:ext cx="7422551" cy="997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97"/>
              </a:lnSpc>
              <a:spcBef>
                <a:spcPct val="0"/>
              </a:spcBef>
            </a:pPr>
            <a:r>
              <a:rPr lang="en-US" sz="5569" b="1">
                <a:solidFill>
                  <a:srgbClr val="002C66"/>
                </a:solidFill>
                <a:latin typeface="Poppins Bold"/>
                <a:ea typeface="Poppins Bold"/>
                <a:cs typeface="Poppins Bold"/>
                <a:sym typeface="Poppins Bold"/>
              </a:rPr>
              <a:t>Questions to answer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1525" y="3075962"/>
            <a:ext cx="15782859" cy="654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4601" lvl="1" indent="-292301" algn="l">
              <a:lnSpc>
                <a:spcPts val="5794"/>
              </a:lnSpc>
              <a:buFont typeface="Arial"/>
              <a:buChar char="•"/>
            </a:pPr>
            <a:r>
              <a:rPr lang="en-US" sz="2707" b="1" spc="8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Market Valuation &amp; Pricing: </a:t>
            </a:r>
            <a:r>
              <a:rPr lang="en-US" sz="2707" spc="8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What is the specific price disparity between </a:t>
            </a:r>
            <a:r>
              <a:rPr lang="en-US" sz="2707" b="1" spc="8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New Cairo</a:t>
            </a:r>
            <a:r>
              <a:rPr lang="en-US" sz="2707" spc="8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and the </a:t>
            </a:r>
            <a:r>
              <a:rPr lang="en-US" sz="2707" b="1" spc="8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New Administrative Capital</a:t>
            </a:r>
            <a:r>
              <a:rPr lang="en-US" sz="2707" spc="8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and how does the price per square meter reflect the investment value in each?</a:t>
            </a:r>
          </a:p>
          <a:p>
            <a:pPr marL="584601" lvl="1" indent="-292301" algn="l">
              <a:lnSpc>
                <a:spcPts val="5794"/>
              </a:lnSpc>
              <a:buFont typeface="Arial"/>
              <a:buChar char="•"/>
            </a:pPr>
            <a:r>
              <a:rPr lang="en-US" sz="2707" b="1" spc="8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Supply &amp; Inventory Composition: </a:t>
            </a:r>
            <a:r>
              <a:rPr lang="en-US" sz="2707" spc="8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Which property types dominate the current listings, and how is the inventory distributed between the two cities in terms of volume and unit variety?</a:t>
            </a:r>
          </a:p>
          <a:p>
            <a:pPr marL="584601" lvl="1" indent="-292301" algn="l">
              <a:lnSpc>
                <a:spcPts val="5794"/>
              </a:lnSpc>
              <a:buFont typeface="Arial"/>
              <a:buChar char="•"/>
            </a:pPr>
            <a:r>
              <a:rPr lang="en-US" sz="2707" b="1" spc="8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Delivery &amp; Finishing Readiness: </a:t>
            </a:r>
            <a:r>
              <a:rPr lang="en-US" sz="2707" spc="8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What is the timeline for property availability </a:t>
            </a:r>
            <a:r>
              <a:rPr lang="en-US" sz="2707" b="1" spc="8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(Ready to Move vs. Future Delivery)</a:t>
            </a:r>
            <a:r>
              <a:rPr lang="en-US" sz="2707" spc="8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and what level of finishing </a:t>
            </a:r>
            <a:r>
              <a:rPr lang="en-US" sz="2707" b="1" spc="8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(e.g., Super Lux vs. Core &amp; Shell)</a:t>
            </a:r>
            <a:r>
              <a:rPr lang="en-US" sz="2707" spc="8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characterizes the majority of the current supply?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748549" y="-4485997"/>
            <a:ext cx="2315586" cy="7946284"/>
            <a:chOff x="0" y="0"/>
            <a:chExt cx="583389" cy="20019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3389" cy="2001987"/>
            </a:xfrm>
            <a:custGeom>
              <a:avLst/>
              <a:gdLst/>
              <a:ahLst/>
              <a:cxnLst/>
              <a:rect l="l" t="t" r="r" b="b"/>
              <a:pathLst>
                <a:path w="583389" h="2001987">
                  <a:moveTo>
                    <a:pt x="345264" y="0"/>
                  </a:moveTo>
                  <a:lnTo>
                    <a:pt x="583389" y="238125"/>
                  </a:lnTo>
                  <a:lnTo>
                    <a:pt x="583389" y="1763862"/>
                  </a:lnTo>
                  <a:lnTo>
                    <a:pt x="345264" y="2001987"/>
                  </a:lnTo>
                  <a:lnTo>
                    <a:pt x="238125" y="2001987"/>
                  </a:lnTo>
                  <a:lnTo>
                    <a:pt x="0" y="1763862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345264" y="0"/>
                  </a:ln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3500" y="-60325"/>
              <a:ext cx="456389" cy="1998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4450617"/>
            <a:ext cx="18288000" cy="0"/>
          </a:xfrm>
          <a:prstGeom prst="line">
            <a:avLst/>
          </a:prstGeom>
          <a:ln w="85725" cap="flat">
            <a:solidFill>
              <a:srgbClr val="03459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  <p:grpSp>
        <p:nvGrpSpPr>
          <p:cNvPr id="6" name="Group 6"/>
          <p:cNvGrpSpPr/>
          <p:nvPr/>
        </p:nvGrpSpPr>
        <p:grpSpPr>
          <a:xfrm>
            <a:off x="1028700" y="3508240"/>
            <a:ext cx="4817217" cy="2008580"/>
            <a:chOff x="0" y="0"/>
            <a:chExt cx="6422955" cy="2678107"/>
          </a:xfrm>
        </p:grpSpPr>
        <p:grpSp>
          <p:nvGrpSpPr>
            <p:cNvPr id="7" name="Group 7"/>
            <p:cNvGrpSpPr/>
            <p:nvPr/>
          </p:nvGrpSpPr>
          <p:grpSpPr>
            <a:xfrm rot="-2700000">
              <a:off x="2946563" y="981907"/>
              <a:ext cx="529829" cy="529829"/>
              <a:chOff x="0" y="0"/>
              <a:chExt cx="812800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2C66"/>
              </a:solidFill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123825"/>
                <a:ext cx="812800" cy="9366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80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0" y="-76200"/>
              <a:ext cx="6422955" cy="673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002C6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Sourcing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64909" y="1843717"/>
              <a:ext cx="3893138" cy="8343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 spc="53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Collecting data from their sources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35392" y="3508240"/>
            <a:ext cx="4817217" cy="2008580"/>
            <a:chOff x="0" y="0"/>
            <a:chExt cx="6422955" cy="2678107"/>
          </a:xfrm>
        </p:grpSpPr>
        <p:grpSp>
          <p:nvGrpSpPr>
            <p:cNvPr id="13" name="Group 13"/>
            <p:cNvGrpSpPr/>
            <p:nvPr/>
          </p:nvGrpSpPr>
          <p:grpSpPr>
            <a:xfrm rot="-2700000">
              <a:off x="2946563" y="981907"/>
              <a:ext cx="529829" cy="529829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2C66"/>
              </a:solidFill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123825"/>
                <a:ext cx="812800" cy="9366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80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0" y="-76200"/>
              <a:ext cx="6422955" cy="673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002C6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Cleaning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7821" y="1843717"/>
              <a:ext cx="5387313" cy="8343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 u="none" strike="noStrike" spc="53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Fixing problems with the data coming from their source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442083" y="3508240"/>
            <a:ext cx="4817217" cy="2322905"/>
            <a:chOff x="0" y="0"/>
            <a:chExt cx="6422955" cy="3097207"/>
          </a:xfrm>
        </p:grpSpPr>
        <p:grpSp>
          <p:nvGrpSpPr>
            <p:cNvPr id="19" name="Group 19"/>
            <p:cNvGrpSpPr/>
            <p:nvPr/>
          </p:nvGrpSpPr>
          <p:grpSpPr>
            <a:xfrm rot="-2700000">
              <a:off x="2946563" y="981907"/>
              <a:ext cx="529829" cy="529829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2C66"/>
              </a:solidFill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812800" cy="9366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80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0" y="-76200"/>
              <a:ext cx="6422955" cy="673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002C6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Modeling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93241" y="1843717"/>
              <a:ext cx="4436474" cy="12534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 spc="53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Making relations between different tables using STAR schema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 rot="-10800000">
            <a:off x="5845917" y="9623680"/>
            <a:ext cx="5811842" cy="3125358"/>
            <a:chOff x="0" y="0"/>
            <a:chExt cx="1752650" cy="9425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752650" cy="942500"/>
            </a:xfrm>
            <a:custGeom>
              <a:avLst/>
              <a:gdLst/>
              <a:ahLst/>
              <a:cxnLst/>
              <a:rect l="l" t="t" r="r" b="b"/>
              <a:pathLst>
                <a:path w="1752650" h="942500">
                  <a:moveTo>
                    <a:pt x="1514525" y="0"/>
                  </a:moveTo>
                  <a:lnTo>
                    <a:pt x="1752650" y="238125"/>
                  </a:lnTo>
                  <a:lnTo>
                    <a:pt x="1752650" y="704375"/>
                  </a:lnTo>
                  <a:lnTo>
                    <a:pt x="1514525" y="942500"/>
                  </a:lnTo>
                  <a:lnTo>
                    <a:pt x="238125" y="942500"/>
                  </a:lnTo>
                  <a:lnTo>
                    <a:pt x="0" y="7043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1514525" y="0"/>
                  </a:ln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500" y="-60325"/>
              <a:ext cx="1625650" cy="939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 rot="-10800000">
            <a:off x="9086730" y="10046195"/>
            <a:ext cx="10267447" cy="2877708"/>
            <a:chOff x="0" y="0"/>
            <a:chExt cx="3096306" cy="86781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096306" cy="867817"/>
            </a:xfrm>
            <a:custGeom>
              <a:avLst/>
              <a:gdLst/>
              <a:ahLst/>
              <a:cxnLst/>
              <a:rect l="l" t="t" r="r" b="b"/>
              <a:pathLst>
                <a:path w="3096306" h="867817">
                  <a:moveTo>
                    <a:pt x="2858181" y="0"/>
                  </a:moveTo>
                  <a:lnTo>
                    <a:pt x="3096306" y="238125"/>
                  </a:lnTo>
                  <a:lnTo>
                    <a:pt x="3096306" y="629692"/>
                  </a:lnTo>
                  <a:lnTo>
                    <a:pt x="2858181" y="867817"/>
                  </a:lnTo>
                  <a:lnTo>
                    <a:pt x="238125" y="867817"/>
                  </a:lnTo>
                  <a:lnTo>
                    <a:pt x="0" y="629692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2858181" y="0"/>
                  </a:lnTo>
                  <a:close/>
                </a:path>
              </a:pathLst>
            </a:custGeom>
            <a:solidFill>
              <a:srgbClr val="03459D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500" y="-60325"/>
              <a:ext cx="2969306" cy="864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 rot="5400000">
            <a:off x="7594045" y="-4805765"/>
            <a:ext cx="2315586" cy="7946284"/>
            <a:chOff x="0" y="0"/>
            <a:chExt cx="583389" cy="2001987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83389" cy="2001987"/>
            </a:xfrm>
            <a:custGeom>
              <a:avLst/>
              <a:gdLst/>
              <a:ahLst/>
              <a:cxnLst/>
              <a:rect l="l" t="t" r="r" b="b"/>
              <a:pathLst>
                <a:path w="583389" h="2001987">
                  <a:moveTo>
                    <a:pt x="345264" y="0"/>
                  </a:moveTo>
                  <a:lnTo>
                    <a:pt x="583389" y="238125"/>
                  </a:lnTo>
                  <a:lnTo>
                    <a:pt x="583389" y="1763862"/>
                  </a:lnTo>
                  <a:lnTo>
                    <a:pt x="345264" y="2001987"/>
                  </a:lnTo>
                  <a:lnTo>
                    <a:pt x="238125" y="2001987"/>
                  </a:lnTo>
                  <a:lnTo>
                    <a:pt x="0" y="1763862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345264" y="0"/>
                  </a:lnTo>
                  <a:close/>
                </a:path>
              </a:pathLst>
            </a:custGeom>
            <a:solidFill>
              <a:srgbClr val="03459D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500" y="-60325"/>
              <a:ext cx="456389" cy="1998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sp>
        <p:nvSpPr>
          <p:cNvPr id="33" name="AutoShape 33"/>
          <p:cNvSpPr/>
          <p:nvPr/>
        </p:nvSpPr>
        <p:spPr>
          <a:xfrm>
            <a:off x="0" y="7658238"/>
            <a:ext cx="18288000" cy="0"/>
          </a:xfrm>
          <a:prstGeom prst="line">
            <a:avLst/>
          </a:prstGeom>
          <a:ln w="85725" cap="flat">
            <a:solidFill>
              <a:srgbClr val="03459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  <p:grpSp>
        <p:nvGrpSpPr>
          <p:cNvPr id="34" name="Group 34"/>
          <p:cNvGrpSpPr/>
          <p:nvPr/>
        </p:nvGrpSpPr>
        <p:grpSpPr>
          <a:xfrm>
            <a:off x="1028700" y="6723122"/>
            <a:ext cx="4817217" cy="2008580"/>
            <a:chOff x="0" y="0"/>
            <a:chExt cx="6422955" cy="2678107"/>
          </a:xfrm>
        </p:grpSpPr>
        <p:grpSp>
          <p:nvGrpSpPr>
            <p:cNvPr id="35" name="Group 35"/>
            <p:cNvGrpSpPr/>
            <p:nvPr/>
          </p:nvGrpSpPr>
          <p:grpSpPr>
            <a:xfrm rot="-2700000">
              <a:off x="2946563" y="981907"/>
              <a:ext cx="529829" cy="529829"/>
              <a:chOff x="0" y="0"/>
              <a:chExt cx="812800" cy="8128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2C66"/>
              </a:solidFill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123825"/>
                <a:ext cx="812800" cy="9366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80"/>
                  </a:lnSpc>
                </a:pPr>
                <a:endParaRPr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0" y="-76200"/>
              <a:ext cx="6422955" cy="673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002C6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DAX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9489" y="1843717"/>
              <a:ext cx="4843977" cy="8343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 spc="53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Performing DAX calculations using formulas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735392" y="6723122"/>
            <a:ext cx="4817217" cy="2008580"/>
            <a:chOff x="0" y="0"/>
            <a:chExt cx="6422955" cy="2678107"/>
          </a:xfrm>
        </p:grpSpPr>
        <p:grpSp>
          <p:nvGrpSpPr>
            <p:cNvPr id="41" name="Group 41"/>
            <p:cNvGrpSpPr/>
            <p:nvPr/>
          </p:nvGrpSpPr>
          <p:grpSpPr>
            <a:xfrm rot="-2700000">
              <a:off x="2946563" y="981907"/>
              <a:ext cx="529829" cy="529829"/>
              <a:chOff x="0" y="0"/>
              <a:chExt cx="812800" cy="8128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2C66"/>
              </a:solidFill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-123825"/>
                <a:ext cx="812800" cy="9366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80"/>
                  </a:lnSpc>
                </a:pPr>
                <a:endParaRPr/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0" y="-76200"/>
              <a:ext cx="6422955" cy="673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002C6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Sample Visual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378104" y="1843717"/>
              <a:ext cx="3666747" cy="8343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 spc="53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Explaining what some visuals are used for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2442083" y="6665972"/>
            <a:ext cx="4817217" cy="2046684"/>
            <a:chOff x="0" y="-76200"/>
            <a:chExt cx="6422955" cy="2728912"/>
          </a:xfrm>
        </p:grpSpPr>
        <p:grpSp>
          <p:nvGrpSpPr>
            <p:cNvPr id="47" name="Group 47"/>
            <p:cNvGrpSpPr/>
            <p:nvPr/>
          </p:nvGrpSpPr>
          <p:grpSpPr>
            <a:xfrm rot="-2700000">
              <a:off x="2946563" y="981907"/>
              <a:ext cx="529829" cy="529829"/>
              <a:chOff x="0" y="0"/>
              <a:chExt cx="812800" cy="8128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2C66"/>
              </a:solidFill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0" y="-123825"/>
                <a:ext cx="812800" cy="9366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80"/>
                  </a:lnSpc>
                </a:pPr>
                <a:endParaRPr/>
              </a:p>
            </p:txBody>
          </p:sp>
        </p:grpSp>
        <p:sp>
          <p:nvSpPr>
            <p:cNvPr id="50" name="TextBox 50"/>
            <p:cNvSpPr txBox="1"/>
            <p:nvPr/>
          </p:nvSpPr>
          <p:spPr>
            <a:xfrm>
              <a:off x="0" y="-76200"/>
              <a:ext cx="6422955" cy="6821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 dirty="0">
                  <a:solidFill>
                    <a:srgbClr val="002C6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Reports &amp; Dashboards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1818322"/>
              <a:ext cx="6270235" cy="8343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 spc="53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Delivering 5 Reports +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spc="53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1 Big Summary Dashboard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045380" y="4205344"/>
            <a:ext cx="490548" cy="490548"/>
            <a:chOff x="0" y="0"/>
            <a:chExt cx="406400" cy="4064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77800" y="-123825"/>
              <a:ext cx="152400" cy="530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5159498" y="1131236"/>
            <a:ext cx="8404101" cy="12299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b="1" dirty="0">
                <a:solidFill>
                  <a:srgbClr val="002C66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Workflow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696819" y="2423659"/>
            <a:ext cx="489436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spc="6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steps we’re following during our project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6388936" y="4205344"/>
            <a:ext cx="490548" cy="490548"/>
            <a:chOff x="0" y="0"/>
            <a:chExt cx="406400" cy="4064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77800" y="-123825"/>
              <a:ext cx="152400" cy="530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1657758" y="7412965"/>
            <a:ext cx="490548" cy="490548"/>
            <a:chOff x="0" y="0"/>
            <a:chExt cx="406400" cy="4064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77800" y="-123825"/>
              <a:ext cx="152400" cy="530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2001314" y="7412965"/>
            <a:ext cx="490548" cy="490548"/>
            <a:chOff x="0" y="0"/>
            <a:chExt cx="406400" cy="4064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77800" y="-123825"/>
              <a:ext cx="152400" cy="530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7419109" y="-4619347"/>
            <a:ext cx="2315586" cy="7946284"/>
            <a:chOff x="0" y="0"/>
            <a:chExt cx="583389" cy="20019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3389" cy="2001987"/>
            </a:xfrm>
            <a:custGeom>
              <a:avLst/>
              <a:gdLst/>
              <a:ahLst/>
              <a:cxnLst/>
              <a:rect l="l" t="t" r="r" b="b"/>
              <a:pathLst>
                <a:path w="583389" h="2001987">
                  <a:moveTo>
                    <a:pt x="345264" y="0"/>
                  </a:moveTo>
                  <a:lnTo>
                    <a:pt x="583389" y="238125"/>
                  </a:lnTo>
                  <a:lnTo>
                    <a:pt x="583389" y="1763862"/>
                  </a:lnTo>
                  <a:lnTo>
                    <a:pt x="345264" y="2001987"/>
                  </a:lnTo>
                  <a:lnTo>
                    <a:pt x="238125" y="2001987"/>
                  </a:lnTo>
                  <a:lnTo>
                    <a:pt x="0" y="1763862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345264" y="0"/>
                  </a:ln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3500" y="-60325"/>
              <a:ext cx="456389" cy="1998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9460181" y="-4846586"/>
            <a:ext cx="2315586" cy="7946284"/>
            <a:chOff x="0" y="0"/>
            <a:chExt cx="583389" cy="200198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3389" cy="2001987"/>
            </a:xfrm>
            <a:custGeom>
              <a:avLst/>
              <a:gdLst/>
              <a:ahLst/>
              <a:cxnLst/>
              <a:rect l="l" t="t" r="r" b="b"/>
              <a:pathLst>
                <a:path w="583389" h="2001987">
                  <a:moveTo>
                    <a:pt x="345264" y="0"/>
                  </a:moveTo>
                  <a:lnTo>
                    <a:pt x="583389" y="238125"/>
                  </a:lnTo>
                  <a:lnTo>
                    <a:pt x="583389" y="1763862"/>
                  </a:lnTo>
                  <a:lnTo>
                    <a:pt x="345264" y="2001987"/>
                  </a:lnTo>
                  <a:lnTo>
                    <a:pt x="238125" y="2001987"/>
                  </a:lnTo>
                  <a:lnTo>
                    <a:pt x="0" y="1763862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345264" y="0"/>
                  </a:lnTo>
                  <a:close/>
                </a:path>
              </a:pathLst>
            </a:custGeom>
            <a:solidFill>
              <a:srgbClr val="03459D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3500" y="-60325"/>
              <a:ext cx="456389" cy="1998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5845917" y="9623680"/>
            <a:ext cx="5811842" cy="3125358"/>
            <a:chOff x="0" y="0"/>
            <a:chExt cx="1752650" cy="9425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52650" cy="942500"/>
            </a:xfrm>
            <a:custGeom>
              <a:avLst/>
              <a:gdLst/>
              <a:ahLst/>
              <a:cxnLst/>
              <a:rect l="l" t="t" r="r" b="b"/>
              <a:pathLst>
                <a:path w="1752650" h="942500">
                  <a:moveTo>
                    <a:pt x="1514525" y="0"/>
                  </a:moveTo>
                  <a:lnTo>
                    <a:pt x="1752650" y="238125"/>
                  </a:lnTo>
                  <a:lnTo>
                    <a:pt x="1752650" y="704375"/>
                  </a:lnTo>
                  <a:lnTo>
                    <a:pt x="1514525" y="942500"/>
                  </a:lnTo>
                  <a:lnTo>
                    <a:pt x="238125" y="942500"/>
                  </a:lnTo>
                  <a:lnTo>
                    <a:pt x="0" y="7043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1514525" y="0"/>
                  </a:ln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500" y="-60325"/>
              <a:ext cx="1625650" cy="939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10800000">
            <a:off x="9086730" y="10046195"/>
            <a:ext cx="10267447" cy="2877708"/>
            <a:chOff x="0" y="0"/>
            <a:chExt cx="3096306" cy="86781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096306" cy="867817"/>
            </a:xfrm>
            <a:custGeom>
              <a:avLst/>
              <a:gdLst/>
              <a:ahLst/>
              <a:cxnLst/>
              <a:rect l="l" t="t" r="r" b="b"/>
              <a:pathLst>
                <a:path w="3096306" h="867817">
                  <a:moveTo>
                    <a:pt x="2858181" y="0"/>
                  </a:moveTo>
                  <a:lnTo>
                    <a:pt x="3096306" y="238125"/>
                  </a:lnTo>
                  <a:lnTo>
                    <a:pt x="3096306" y="629692"/>
                  </a:lnTo>
                  <a:lnTo>
                    <a:pt x="2858181" y="867817"/>
                  </a:lnTo>
                  <a:lnTo>
                    <a:pt x="238125" y="867817"/>
                  </a:lnTo>
                  <a:lnTo>
                    <a:pt x="0" y="629692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2858181" y="0"/>
                  </a:lnTo>
                  <a:close/>
                </a:path>
              </a:pathLst>
            </a:custGeom>
            <a:solidFill>
              <a:srgbClr val="03459D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500" y="-60325"/>
              <a:ext cx="2969306" cy="864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5400000">
            <a:off x="-1099337" y="787918"/>
            <a:ext cx="2198673" cy="857039"/>
            <a:chOff x="0" y="0"/>
            <a:chExt cx="1824533" cy="711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824533" cy="711200"/>
            </a:xfrm>
            <a:custGeom>
              <a:avLst/>
              <a:gdLst/>
              <a:ahLst/>
              <a:cxnLst/>
              <a:rect l="l" t="t" r="r" b="b"/>
              <a:pathLst>
                <a:path w="1824533" h="711200">
                  <a:moveTo>
                    <a:pt x="912267" y="0"/>
                  </a:moveTo>
                  <a:lnTo>
                    <a:pt x="1824533" y="711200"/>
                  </a:lnTo>
                  <a:lnTo>
                    <a:pt x="0" y="711200"/>
                  </a:lnTo>
                  <a:lnTo>
                    <a:pt x="912267" y="0"/>
                  </a:ln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85083" y="206375"/>
              <a:ext cx="1254367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094170" y="3973755"/>
            <a:ext cx="7787948" cy="4831288"/>
          </a:xfrm>
          <a:custGeom>
            <a:avLst/>
            <a:gdLst/>
            <a:ahLst/>
            <a:cxnLst/>
            <a:rect l="l" t="t" r="r" b="b"/>
            <a:pathLst>
              <a:path w="7787948" h="4831288">
                <a:moveTo>
                  <a:pt x="0" y="0"/>
                </a:moveTo>
                <a:lnTo>
                  <a:pt x="7787948" y="0"/>
                </a:lnTo>
                <a:lnTo>
                  <a:pt x="7787948" y="4831288"/>
                </a:lnTo>
                <a:lnTo>
                  <a:pt x="0" y="48312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5112"/>
            </a:stretch>
          </a:blipFill>
          <a:ln w="123825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ar-EG"/>
          </a:p>
        </p:txBody>
      </p:sp>
      <p:sp>
        <p:nvSpPr>
          <p:cNvPr id="18" name="Freeform 18"/>
          <p:cNvSpPr/>
          <p:nvPr/>
        </p:nvSpPr>
        <p:spPr>
          <a:xfrm>
            <a:off x="9989570" y="3973755"/>
            <a:ext cx="7787948" cy="4803035"/>
          </a:xfrm>
          <a:custGeom>
            <a:avLst/>
            <a:gdLst/>
            <a:ahLst/>
            <a:cxnLst/>
            <a:rect l="l" t="t" r="r" b="b"/>
            <a:pathLst>
              <a:path w="7787948" h="4803035">
                <a:moveTo>
                  <a:pt x="0" y="0"/>
                </a:moveTo>
                <a:lnTo>
                  <a:pt x="7787948" y="0"/>
                </a:lnTo>
                <a:lnTo>
                  <a:pt x="7787948" y="4803035"/>
                </a:lnTo>
                <a:lnTo>
                  <a:pt x="0" y="48030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-45112"/>
            </a:stretch>
          </a:blipFill>
          <a:ln w="123825" cap="rnd">
            <a:solidFill>
              <a:srgbClr val="000000">
                <a:alpha val="40000"/>
              </a:srgbClr>
            </a:solidFill>
            <a:prstDash val="solid"/>
            <a:round/>
          </a:ln>
        </p:spPr>
        <p:txBody>
          <a:bodyPr/>
          <a:lstStyle/>
          <a:p>
            <a:endParaRPr lang="ar-EG"/>
          </a:p>
        </p:txBody>
      </p:sp>
      <p:sp>
        <p:nvSpPr>
          <p:cNvPr id="19" name="TextBox 19"/>
          <p:cNvSpPr txBox="1"/>
          <p:nvPr/>
        </p:nvSpPr>
        <p:spPr>
          <a:xfrm>
            <a:off x="1094170" y="532226"/>
            <a:ext cx="6089303" cy="117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 b="1">
                <a:solidFill>
                  <a:srgbClr val="002C66"/>
                </a:solidFill>
                <a:latin typeface="Poppins Bold"/>
                <a:ea typeface="Poppins Bold"/>
                <a:cs typeface="Poppins Bold"/>
                <a:sym typeface="Poppins Bold"/>
              </a:rPr>
              <a:t>Data Cleaning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94170" y="1795710"/>
            <a:ext cx="10054482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100" spc="84">
                <a:solidFill>
                  <a:srgbClr val="002C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Refining the dataset and using "Data Imputation" techniques to handle inconsistent or missing information.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897794" y="3240329"/>
            <a:ext cx="1419374" cy="523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2C66"/>
                </a:solidFill>
                <a:latin typeface="Poppins Bold"/>
                <a:ea typeface="Poppins Bold"/>
                <a:cs typeface="Poppins Bold"/>
                <a:sym typeface="Poppins Bold"/>
              </a:rPr>
              <a:t>BEFORE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299170" y="3240329"/>
            <a:ext cx="1168747" cy="523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2C66"/>
                </a:solidFill>
                <a:latin typeface="Poppins Bold"/>
                <a:ea typeface="Poppins Bold"/>
                <a:cs typeface="Poppins Bold"/>
                <a:sym typeface="Poppins Bold"/>
              </a:rPr>
              <a:t>AFTER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6966100" y="5086350"/>
            <a:ext cx="1916050" cy="3690440"/>
            <a:chOff x="0" y="0"/>
            <a:chExt cx="2554733" cy="4920587"/>
          </a:xfrm>
        </p:grpSpPr>
        <p:sp>
          <p:nvSpPr>
            <p:cNvPr id="24" name="AutoShape 24"/>
            <p:cNvSpPr/>
            <p:nvPr/>
          </p:nvSpPr>
          <p:spPr>
            <a:xfrm flipV="1">
              <a:off x="42" y="50800"/>
              <a:ext cx="2554649" cy="2124"/>
            </a:xfrm>
            <a:prstGeom prst="line">
              <a:avLst/>
            </a:prstGeom>
            <a:ln w="101600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25" name="AutoShape 25"/>
            <p:cNvSpPr/>
            <p:nvPr/>
          </p:nvSpPr>
          <p:spPr>
            <a:xfrm flipV="1">
              <a:off x="42" y="4723110"/>
              <a:ext cx="2554649" cy="0"/>
            </a:xfrm>
            <a:prstGeom prst="line">
              <a:avLst/>
            </a:prstGeom>
            <a:ln w="101600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50842" y="50524"/>
              <a:ext cx="0" cy="4672586"/>
            </a:xfrm>
            <a:prstGeom prst="line">
              <a:avLst/>
            </a:prstGeom>
            <a:ln w="101600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27" name="AutoShape 27"/>
            <p:cNvSpPr/>
            <p:nvPr/>
          </p:nvSpPr>
          <p:spPr>
            <a:xfrm>
              <a:off x="2503891" y="52636"/>
              <a:ext cx="0" cy="4867950"/>
            </a:xfrm>
            <a:prstGeom prst="line">
              <a:avLst/>
            </a:prstGeom>
            <a:ln w="101600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ar-EG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7419109" y="-4619347"/>
            <a:ext cx="2315586" cy="7946284"/>
            <a:chOff x="0" y="0"/>
            <a:chExt cx="583389" cy="20019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3389" cy="2001987"/>
            </a:xfrm>
            <a:custGeom>
              <a:avLst/>
              <a:gdLst/>
              <a:ahLst/>
              <a:cxnLst/>
              <a:rect l="l" t="t" r="r" b="b"/>
              <a:pathLst>
                <a:path w="583389" h="2001987">
                  <a:moveTo>
                    <a:pt x="345264" y="0"/>
                  </a:moveTo>
                  <a:lnTo>
                    <a:pt x="583389" y="238125"/>
                  </a:lnTo>
                  <a:lnTo>
                    <a:pt x="583389" y="1763862"/>
                  </a:lnTo>
                  <a:lnTo>
                    <a:pt x="345264" y="2001987"/>
                  </a:lnTo>
                  <a:lnTo>
                    <a:pt x="238125" y="2001987"/>
                  </a:lnTo>
                  <a:lnTo>
                    <a:pt x="0" y="1763862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345264" y="0"/>
                  </a:ln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3500" y="-60325"/>
              <a:ext cx="456389" cy="1998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5845917" y="9623680"/>
            <a:ext cx="5811842" cy="3125358"/>
            <a:chOff x="0" y="0"/>
            <a:chExt cx="1752650" cy="942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52650" cy="942500"/>
            </a:xfrm>
            <a:custGeom>
              <a:avLst/>
              <a:gdLst/>
              <a:ahLst/>
              <a:cxnLst/>
              <a:rect l="l" t="t" r="r" b="b"/>
              <a:pathLst>
                <a:path w="1752650" h="942500">
                  <a:moveTo>
                    <a:pt x="1514525" y="0"/>
                  </a:moveTo>
                  <a:lnTo>
                    <a:pt x="1752650" y="238125"/>
                  </a:lnTo>
                  <a:lnTo>
                    <a:pt x="1752650" y="704375"/>
                  </a:lnTo>
                  <a:lnTo>
                    <a:pt x="1514525" y="942500"/>
                  </a:lnTo>
                  <a:lnTo>
                    <a:pt x="238125" y="942500"/>
                  </a:lnTo>
                  <a:lnTo>
                    <a:pt x="0" y="7043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1514525" y="0"/>
                  </a:ln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3500" y="-60325"/>
              <a:ext cx="1625650" cy="939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9086730" y="10046195"/>
            <a:ext cx="10267447" cy="2877708"/>
            <a:chOff x="0" y="0"/>
            <a:chExt cx="3096306" cy="86781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096306" cy="867817"/>
            </a:xfrm>
            <a:custGeom>
              <a:avLst/>
              <a:gdLst/>
              <a:ahLst/>
              <a:cxnLst/>
              <a:rect l="l" t="t" r="r" b="b"/>
              <a:pathLst>
                <a:path w="3096306" h="867817">
                  <a:moveTo>
                    <a:pt x="2858181" y="0"/>
                  </a:moveTo>
                  <a:lnTo>
                    <a:pt x="3096306" y="238125"/>
                  </a:lnTo>
                  <a:lnTo>
                    <a:pt x="3096306" y="629692"/>
                  </a:lnTo>
                  <a:lnTo>
                    <a:pt x="2858181" y="867817"/>
                  </a:lnTo>
                  <a:lnTo>
                    <a:pt x="238125" y="867817"/>
                  </a:lnTo>
                  <a:lnTo>
                    <a:pt x="0" y="629692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2858181" y="0"/>
                  </a:lnTo>
                  <a:close/>
                </a:path>
              </a:pathLst>
            </a:custGeom>
            <a:solidFill>
              <a:srgbClr val="03459D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500" y="-60325"/>
              <a:ext cx="2969306" cy="864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5400000">
            <a:off x="-1099337" y="787918"/>
            <a:ext cx="2198673" cy="857039"/>
            <a:chOff x="0" y="0"/>
            <a:chExt cx="1824533" cy="71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24533" cy="711200"/>
            </a:xfrm>
            <a:custGeom>
              <a:avLst/>
              <a:gdLst/>
              <a:ahLst/>
              <a:cxnLst/>
              <a:rect l="l" t="t" r="r" b="b"/>
              <a:pathLst>
                <a:path w="1824533" h="711200">
                  <a:moveTo>
                    <a:pt x="912267" y="0"/>
                  </a:moveTo>
                  <a:lnTo>
                    <a:pt x="1824533" y="711200"/>
                  </a:lnTo>
                  <a:lnTo>
                    <a:pt x="0" y="711200"/>
                  </a:lnTo>
                  <a:lnTo>
                    <a:pt x="912267" y="0"/>
                  </a:ln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5083" y="206375"/>
              <a:ext cx="1254367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094170" y="3973755"/>
            <a:ext cx="7787948" cy="4831288"/>
          </a:xfrm>
          <a:custGeom>
            <a:avLst/>
            <a:gdLst/>
            <a:ahLst/>
            <a:cxnLst/>
            <a:rect l="l" t="t" r="r" b="b"/>
            <a:pathLst>
              <a:path w="7787948" h="4831288">
                <a:moveTo>
                  <a:pt x="0" y="0"/>
                </a:moveTo>
                <a:lnTo>
                  <a:pt x="7787948" y="0"/>
                </a:lnTo>
                <a:lnTo>
                  <a:pt x="7787948" y="4831288"/>
                </a:lnTo>
                <a:lnTo>
                  <a:pt x="0" y="48312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-45112"/>
            </a:stretch>
          </a:blipFill>
          <a:ln w="123825" cap="rnd">
            <a:solidFill>
              <a:srgbClr val="000000">
                <a:alpha val="40000"/>
              </a:srgbClr>
            </a:solidFill>
            <a:prstDash val="solid"/>
            <a:round/>
          </a:ln>
        </p:spPr>
        <p:txBody>
          <a:bodyPr/>
          <a:lstStyle/>
          <a:p>
            <a:endParaRPr lang="ar-EG"/>
          </a:p>
        </p:txBody>
      </p:sp>
      <p:sp>
        <p:nvSpPr>
          <p:cNvPr id="15" name="Freeform 15"/>
          <p:cNvSpPr/>
          <p:nvPr/>
        </p:nvSpPr>
        <p:spPr>
          <a:xfrm>
            <a:off x="9989570" y="3973755"/>
            <a:ext cx="7787948" cy="4803035"/>
          </a:xfrm>
          <a:custGeom>
            <a:avLst/>
            <a:gdLst/>
            <a:ahLst/>
            <a:cxnLst/>
            <a:rect l="l" t="t" r="r" b="b"/>
            <a:pathLst>
              <a:path w="7787948" h="4803035">
                <a:moveTo>
                  <a:pt x="0" y="0"/>
                </a:moveTo>
                <a:lnTo>
                  <a:pt x="7787948" y="0"/>
                </a:lnTo>
                <a:lnTo>
                  <a:pt x="7787948" y="4803035"/>
                </a:lnTo>
                <a:lnTo>
                  <a:pt x="0" y="48030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5112"/>
            </a:stretch>
          </a:blipFill>
          <a:ln w="123825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ar-EG"/>
          </a:p>
        </p:txBody>
      </p:sp>
      <p:grpSp>
        <p:nvGrpSpPr>
          <p:cNvPr id="16" name="Group 16"/>
          <p:cNvGrpSpPr/>
          <p:nvPr/>
        </p:nvGrpSpPr>
        <p:grpSpPr>
          <a:xfrm rot="5400000">
            <a:off x="9460181" y="-4846586"/>
            <a:ext cx="2315586" cy="7946284"/>
            <a:chOff x="0" y="0"/>
            <a:chExt cx="583389" cy="200198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83389" cy="2001987"/>
            </a:xfrm>
            <a:custGeom>
              <a:avLst/>
              <a:gdLst/>
              <a:ahLst/>
              <a:cxnLst/>
              <a:rect l="l" t="t" r="r" b="b"/>
              <a:pathLst>
                <a:path w="583389" h="2001987">
                  <a:moveTo>
                    <a:pt x="345264" y="0"/>
                  </a:moveTo>
                  <a:lnTo>
                    <a:pt x="583389" y="238125"/>
                  </a:lnTo>
                  <a:lnTo>
                    <a:pt x="583389" y="1763862"/>
                  </a:lnTo>
                  <a:lnTo>
                    <a:pt x="345264" y="2001987"/>
                  </a:lnTo>
                  <a:lnTo>
                    <a:pt x="238125" y="2001987"/>
                  </a:lnTo>
                  <a:lnTo>
                    <a:pt x="0" y="1763862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345264" y="0"/>
                  </a:lnTo>
                  <a:close/>
                </a:path>
              </a:pathLst>
            </a:custGeom>
            <a:solidFill>
              <a:srgbClr val="03459D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500" y="-60325"/>
              <a:ext cx="456389" cy="1998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094170" y="532226"/>
            <a:ext cx="6089571" cy="117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 b="1">
                <a:solidFill>
                  <a:srgbClr val="002C66"/>
                </a:solidFill>
                <a:latin typeface="Poppins Bold"/>
                <a:ea typeface="Poppins Bold"/>
                <a:cs typeface="Poppins Bold"/>
                <a:sym typeface="Poppins Bold"/>
              </a:rPr>
              <a:t>Data Cleaning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94170" y="1795710"/>
            <a:ext cx="10054482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100" spc="84">
                <a:solidFill>
                  <a:srgbClr val="002C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Refining the dataset and using "Data Imputation" techniques to handle inconsistent or missing information.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897794" y="3240329"/>
            <a:ext cx="1419374" cy="523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2C66"/>
                </a:solidFill>
                <a:latin typeface="Poppins Bold"/>
                <a:ea typeface="Poppins Bold"/>
                <a:cs typeface="Poppins Bold"/>
                <a:sym typeface="Poppins Bold"/>
              </a:rPr>
              <a:t>BEFORE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299170" y="3240329"/>
            <a:ext cx="1168747" cy="523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2C66"/>
                </a:solidFill>
                <a:latin typeface="Poppins Bold"/>
                <a:ea typeface="Poppins Bold"/>
                <a:cs typeface="Poppins Bold"/>
                <a:sym typeface="Poppins Bold"/>
              </a:rPr>
              <a:t>AFTER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5861466" y="4952038"/>
            <a:ext cx="1916053" cy="3853005"/>
            <a:chOff x="0" y="0"/>
            <a:chExt cx="2554737" cy="5137340"/>
          </a:xfrm>
        </p:grpSpPr>
        <p:sp>
          <p:nvSpPr>
            <p:cNvPr id="24" name="AutoShape 24"/>
            <p:cNvSpPr/>
            <p:nvPr/>
          </p:nvSpPr>
          <p:spPr>
            <a:xfrm flipV="1">
              <a:off x="44" y="50800"/>
              <a:ext cx="2554649" cy="2219"/>
            </a:xfrm>
            <a:prstGeom prst="line">
              <a:avLst/>
            </a:prstGeom>
            <a:ln w="101600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25" name="AutoShape 25"/>
            <p:cNvSpPr/>
            <p:nvPr/>
          </p:nvSpPr>
          <p:spPr>
            <a:xfrm flipV="1">
              <a:off x="44" y="4931074"/>
              <a:ext cx="2554649" cy="0"/>
            </a:xfrm>
            <a:prstGeom prst="line">
              <a:avLst/>
            </a:prstGeom>
            <a:ln w="101600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50844" y="50512"/>
              <a:ext cx="0" cy="4880562"/>
            </a:xfrm>
            <a:prstGeom prst="line">
              <a:avLst/>
            </a:prstGeom>
            <a:ln w="101600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27" name="AutoShape 27"/>
            <p:cNvSpPr/>
            <p:nvPr/>
          </p:nvSpPr>
          <p:spPr>
            <a:xfrm>
              <a:off x="2503893" y="52718"/>
              <a:ext cx="0" cy="5084622"/>
            </a:xfrm>
            <a:prstGeom prst="line">
              <a:avLst/>
            </a:prstGeom>
            <a:ln w="101600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ar-EG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7419109" y="-4619347"/>
            <a:ext cx="2315586" cy="7946284"/>
            <a:chOff x="0" y="0"/>
            <a:chExt cx="583389" cy="20019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3389" cy="2001987"/>
            </a:xfrm>
            <a:custGeom>
              <a:avLst/>
              <a:gdLst/>
              <a:ahLst/>
              <a:cxnLst/>
              <a:rect l="l" t="t" r="r" b="b"/>
              <a:pathLst>
                <a:path w="583389" h="2001987">
                  <a:moveTo>
                    <a:pt x="345264" y="0"/>
                  </a:moveTo>
                  <a:lnTo>
                    <a:pt x="583389" y="238125"/>
                  </a:lnTo>
                  <a:lnTo>
                    <a:pt x="583389" y="1763862"/>
                  </a:lnTo>
                  <a:lnTo>
                    <a:pt x="345264" y="2001987"/>
                  </a:lnTo>
                  <a:lnTo>
                    <a:pt x="238125" y="2001987"/>
                  </a:lnTo>
                  <a:lnTo>
                    <a:pt x="0" y="1763862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345264" y="0"/>
                  </a:ln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3500" y="-60325"/>
              <a:ext cx="456389" cy="1998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5845917" y="9623680"/>
            <a:ext cx="5811842" cy="3125358"/>
            <a:chOff x="0" y="0"/>
            <a:chExt cx="1752650" cy="942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52650" cy="942500"/>
            </a:xfrm>
            <a:custGeom>
              <a:avLst/>
              <a:gdLst/>
              <a:ahLst/>
              <a:cxnLst/>
              <a:rect l="l" t="t" r="r" b="b"/>
              <a:pathLst>
                <a:path w="1752650" h="942500">
                  <a:moveTo>
                    <a:pt x="1514525" y="0"/>
                  </a:moveTo>
                  <a:lnTo>
                    <a:pt x="1752650" y="238125"/>
                  </a:lnTo>
                  <a:lnTo>
                    <a:pt x="1752650" y="704375"/>
                  </a:lnTo>
                  <a:lnTo>
                    <a:pt x="1514525" y="942500"/>
                  </a:lnTo>
                  <a:lnTo>
                    <a:pt x="238125" y="942500"/>
                  </a:lnTo>
                  <a:lnTo>
                    <a:pt x="0" y="7043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1514525" y="0"/>
                  </a:ln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3500" y="-60325"/>
              <a:ext cx="1625650" cy="939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9086730" y="10046195"/>
            <a:ext cx="10267447" cy="2877708"/>
            <a:chOff x="0" y="0"/>
            <a:chExt cx="3096306" cy="86781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096306" cy="867817"/>
            </a:xfrm>
            <a:custGeom>
              <a:avLst/>
              <a:gdLst/>
              <a:ahLst/>
              <a:cxnLst/>
              <a:rect l="l" t="t" r="r" b="b"/>
              <a:pathLst>
                <a:path w="3096306" h="867817">
                  <a:moveTo>
                    <a:pt x="2858181" y="0"/>
                  </a:moveTo>
                  <a:lnTo>
                    <a:pt x="3096306" y="238125"/>
                  </a:lnTo>
                  <a:lnTo>
                    <a:pt x="3096306" y="629692"/>
                  </a:lnTo>
                  <a:lnTo>
                    <a:pt x="2858181" y="867817"/>
                  </a:lnTo>
                  <a:lnTo>
                    <a:pt x="238125" y="867817"/>
                  </a:lnTo>
                  <a:lnTo>
                    <a:pt x="0" y="629692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2858181" y="0"/>
                  </a:lnTo>
                  <a:close/>
                </a:path>
              </a:pathLst>
            </a:custGeom>
            <a:solidFill>
              <a:srgbClr val="03459D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500" y="-60325"/>
              <a:ext cx="2969306" cy="864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5400000">
            <a:off x="-1099337" y="787918"/>
            <a:ext cx="2198673" cy="857039"/>
            <a:chOff x="0" y="0"/>
            <a:chExt cx="1824533" cy="71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24533" cy="711200"/>
            </a:xfrm>
            <a:custGeom>
              <a:avLst/>
              <a:gdLst/>
              <a:ahLst/>
              <a:cxnLst/>
              <a:rect l="l" t="t" r="r" b="b"/>
              <a:pathLst>
                <a:path w="1824533" h="711200">
                  <a:moveTo>
                    <a:pt x="912267" y="0"/>
                  </a:moveTo>
                  <a:lnTo>
                    <a:pt x="1824533" y="711200"/>
                  </a:lnTo>
                  <a:lnTo>
                    <a:pt x="0" y="711200"/>
                  </a:lnTo>
                  <a:lnTo>
                    <a:pt x="912267" y="0"/>
                  </a:ln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5083" y="206375"/>
              <a:ext cx="1254367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094170" y="3973755"/>
            <a:ext cx="7787948" cy="4831288"/>
          </a:xfrm>
          <a:custGeom>
            <a:avLst/>
            <a:gdLst/>
            <a:ahLst/>
            <a:cxnLst/>
            <a:rect l="l" t="t" r="r" b="b"/>
            <a:pathLst>
              <a:path w="7787948" h="4831288">
                <a:moveTo>
                  <a:pt x="0" y="0"/>
                </a:moveTo>
                <a:lnTo>
                  <a:pt x="7787948" y="0"/>
                </a:lnTo>
                <a:lnTo>
                  <a:pt x="7787948" y="4831288"/>
                </a:lnTo>
                <a:lnTo>
                  <a:pt x="0" y="48312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777"/>
            </a:stretch>
          </a:blipFill>
          <a:ln w="123825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ar-EG"/>
          </a:p>
        </p:txBody>
      </p:sp>
      <p:sp>
        <p:nvSpPr>
          <p:cNvPr id="15" name="Freeform 15"/>
          <p:cNvSpPr/>
          <p:nvPr/>
        </p:nvSpPr>
        <p:spPr>
          <a:xfrm>
            <a:off x="9989570" y="3973755"/>
            <a:ext cx="7787948" cy="4803035"/>
          </a:xfrm>
          <a:custGeom>
            <a:avLst/>
            <a:gdLst/>
            <a:ahLst/>
            <a:cxnLst/>
            <a:rect l="l" t="t" r="r" b="b"/>
            <a:pathLst>
              <a:path w="7787948" h="4803035">
                <a:moveTo>
                  <a:pt x="0" y="0"/>
                </a:moveTo>
                <a:lnTo>
                  <a:pt x="7787948" y="0"/>
                </a:lnTo>
                <a:lnTo>
                  <a:pt x="7787948" y="4803035"/>
                </a:lnTo>
                <a:lnTo>
                  <a:pt x="0" y="48030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-10129"/>
            </a:stretch>
          </a:blipFill>
          <a:ln w="123825" cap="rnd">
            <a:solidFill>
              <a:srgbClr val="000000">
                <a:alpha val="40000"/>
              </a:srgbClr>
            </a:solidFill>
            <a:prstDash val="solid"/>
            <a:round/>
          </a:ln>
        </p:spPr>
        <p:txBody>
          <a:bodyPr/>
          <a:lstStyle/>
          <a:p>
            <a:endParaRPr lang="ar-EG"/>
          </a:p>
        </p:txBody>
      </p:sp>
      <p:sp>
        <p:nvSpPr>
          <p:cNvPr id="16" name="TextBox 16"/>
          <p:cNvSpPr txBox="1"/>
          <p:nvPr/>
        </p:nvSpPr>
        <p:spPr>
          <a:xfrm>
            <a:off x="1094170" y="532226"/>
            <a:ext cx="6089650" cy="117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 b="1">
                <a:solidFill>
                  <a:srgbClr val="002C66"/>
                </a:solidFill>
                <a:latin typeface="Poppins Bold"/>
                <a:ea typeface="Poppins Bold"/>
                <a:cs typeface="Poppins Bold"/>
                <a:sym typeface="Poppins Bold"/>
              </a:rPr>
              <a:t>Data Cleaning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94170" y="1795710"/>
            <a:ext cx="10054482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100" spc="84">
                <a:solidFill>
                  <a:srgbClr val="002C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Refining the dataset and using "Data Imputation" techniques to handle inconsistent or missing information.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897794" y="3240329"/>
            <a:ext cx="1419374" cy="523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2C66"/>
                </a:solidFill>
                <a:latin typeface="Poppins Bold"/>
                <a:ea typeface="Poppins Bold"/>
                <a:cs typeface="Poppins Bold"/>
                <a:sym typeface="Poppins Bold"/>
              </a:rPr>
              <a:t>BEFORE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299170" y="3240329"/>
            <a:ext cx="1168747" cy="523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2C66"/>
                </a:solidFill>
                <a:latin typeface="Poppins Bold"/>
                <a:ea typeface="Poppins Bold"/>
                <a:cs typeface="Poppins Bold"/>
                <a:sym typeface="Poppins Bold"/>
              </a:rPr>
              <a:t>AFTER</a:t>
            </a:r>
          </a:p>
        </p:txBody>
      </p:sp>
      <p:grpSp>
        <p:nvGrpSpPr>
          <p:cNvPr id="20" name="Group 20"/>
          <p:cNvGrpSpPr/>
          <p:nvPr/>
        </p:nvGrpSpPr>
        <p:grpSpPr>
          <a:xfrm rot="5400000">
            <a:off x="9460181" y="-4846586"/>
            <a:ext cx="2315586" cy="7946284"/>
            <a:chOff x="0" y="0"/>
            <a:chExt cx="583389" cy="200198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83389" cy="2001987"/>
            </a:xfrm>
            <a:custGeom>
              <a:avLst/>
              <a:gdLst/>
              <a:ahLst/>
              <a:cxnLst/>
              <a:rect l="l" t="t" r="r" b="b"/>
              <a:pathLst>
                <a:path w="583389" h="2001987">
                  <a:moveTo>
                    <a:pt x="345264" y="0"/>
                  </a:moveTo>
                  <a:lnTo>
                    <a:pt x="583389" y="238125"/>
                  </a:lnTo>
                  <a:lnTo>
                    <a:pt x="583389" y="1763862"/>
                  </a:lnTo>
                  <a:lnTo>
                    <a:pt x="345264" y="2001987"/>
                  </a:lnTo>
                  <a:lnTo>
                    <a:pt x="238125" y="2001987"/>
                  </a:lnTo>
                  <a:lnTo>
                    <a:pt x="0" y="1763862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345264" y="0"/>
                  </a:lnTo>
                  <a:close/>
                </a:path>
              </a:pathLst>
            </a:custGeom>
            <a:solidFill>
              <a:srgbClr val="03459D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500" y="-60325"/>
              <a:ext cx="456389" cy="1998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sp>
        <p:nvSpPr>
          <p:cNvPr id="23" name="AutoShape 23"/>
          <p:cNvSpPr/>
          <p:nvPr/>
        </p:nvSpPr>
        <p:spPr>
          <a:xfrm flipV="1">
            <a:off x="7429009" y="4738630"/>
            <a:ext cx="1453084" cy="1817"/>
          </a:xfrm>
          <a:prstGeom prst="line">
            <a:avLst/>
          </a:prstGeom>
          <a:ln w="857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  <p:sp>
        <p:nvSpPr>
          <p:cNvPr id="24" name="AutoShape 24"/>
          <p:cNvSpPr/>
          <p:nvPr/>
        </p:nvSpPr>
        <p:spPr>
          <a:xfrm>
            <a:off x="7429009" y="8735700"/>
            <a:ext cx="1453084" cy="0"/>
          </a:xfrm>
          <a:prstGeom prst="line">
            <a:avLst/>
          </a:prstGeom>
          <a:ln w="857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  <p:sp>
        <p:nvSpPr>
          <p:cNvPr id="25" name="AutoShape 25"/>
          <p:cNvSpPr/>
          <p:nvPr/>
        </p:nvSpPr>
        <p:spPr>
          <a:xfrm>
            <a:off x="7457904" y="4738394"/>
            <a:ext cx="0" cy="3997306"/>
          </a:xfrm>
          <a:prstGeom prst="line">
            <a:avLst/>
          </a:prstGeom>
          <a:ln w="857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  <p:sp>
        <p:nvSpPr>
          <p:cNvPr id="26" name="AutoShape 26"/>
          <p:cNvSpPr/>
          <p:nvPr/>
        </p:nvSpPr>
        <p:spPr>
          <a:xfrm flipH="1">
            <a:off x="8853198" y="4740201"/>
            <a:ext cx="0" cy="4064842"/>
          </a:xfrm>
          <a:prstGeom prst="line">
            <a:avLst/>
          </a:prstGeom>
          <a:ln w="857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7419109" y="-4619347"/>
            <a:ext cx="2315586" cy="7946284"/>
            <a:chOff x="0" y="0"/>
            <a:chExt cx="583389" cy="20019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3389" cy="2001987"/>
            </a:xfrm>
            <a:custGeom>
              <a:avLst/>
              <a:gdLst/>
              <a:ahLst/>
              <a:cxnLst/>
              <a:rect l="l" t="t" r="r" b="b"/>
              <a:pathLst>
                <a:path w="583389" h="2001987">
                  <a:moveTo>
                    <a:pt x="345264" y="0"/>
                  </a:moveTo>
                  <a:lnTo>
                    <a:pt x="583389" y="238125"/>
                  </a:lnTo>
                  <a:lnTo>
                    <a:pt x="583389" y="1763862"/>
                  </a:lnTo>
                  <a:lnTo>
                    <a:pt x="345264" y="2001987"/>
                  </a:lnTo>
                  <a:lnTo>
                    <a:pt x="238125" y="2001987"/>
                  </a:lnTo>
                  <a:lnTo>
                    <a:pt x="0" y="1763862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345264" y="0"/>
                  </a:ln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3500" y="-60325"/>
              <a:ext cx="456389" cy="1998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5845917" y="9623680"/>
            <a:ext cx="5811842" cy="3125358"/>
            <a:chOff x="0" y="0"/>
            <a:chExt cx="1752650" cy="942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52650" cy="942500"/>
            </a:xfrm>
            <a:custGeom>
              <a:avLst/>
              <a:gdLst/>
              <a:ahLst/>
              <a:cxnLst/>
              <a:rect l="l" t="t" r="r" b="b"/>
              <a:pathLst>
                <a:path w="1752650" h="942500">
                  <a:moveTo>
                    <a:pt x="1514525" y="0"/>
                  </a:moveTo>
                  <a:lnTo>
                    <a:pt x="1752650" y="238125"/>
                  </a:lnTo>
                  <a:lnTo>
                    <a:pt x="1752650" y="704375"/>
                  </a:lnTo>
                  <a:lnTo>
                    <a:pt x="1514525" y="942500"/>
                  </a:lnTo>
                  <a:lnTo>
                    <a:pt x="238125" y="942500"/>
                  </a:lnTo>
                  <a:lnTo>
                    <a:pt x="0" y="7043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1514525" y="0"/>
                  </a:ln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3500" y="-60325"/>
              <a:ext cx="1625650" cy="939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9086730" y="10046195"/>
            <a:ext cx="10267447" cy="2877708"/>
            <a:chOff x="0" y="0"/>
            <a:chExt cx="3096306" cy="86781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096306" cy="867817"/>
            </a:xfrm>
            <a:custGeom>
              <a:avLst/>
              <a:gdLst/>
              <a:ahLst/>
              <a:cxnLst/>
              <a:rect l="l" t="t" r="r" b="b"/>
              <a:pathLst>
                <a:path w="3096306" h="867817">
                  <a:moveTo>
                    <a:pt x="2858181" y="0"/>
                  </a:moveTo>
                  <a:lnTo>
                    <a:pt x="3096306" y="238125"/>
                  </a:lnTo>
                  <a:lnTo>
                    <a:pt x="3096306" y="629692"/>
                  </a:lnTo>
                  <a:lnTo>
                    <a:pt x="2858181" y="867817"/>
                  </a:lnTo>
                  <a:lnTo>
                    <a:pt x="238125" y="867817"/>
                  </a:lnTo>
                  <a:lnTo>
                    <a:pt x="0" y="629692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2858181" y="0"/>
                  </a:lnTo>
                  <a:close/>
                </a:path>
              </a:pathLst>
            </a:custGeom>
            <a:solidFill>
              <a:srgbClr val="03459D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500" y="-60325"/>
              <a:ext cx="2969306" cy="864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5400000">
            <a:off x="-1099337" y="787918"/>
            <a:ext cx="2198673" cy="857039"/>
            <a:chOff x="0" y="0"/>
            <a:chExt cx="1824533" cy="71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24533" cy="711200"/>
            </a:xfrm>
            <a:custGeom>
              <a:avLst/>
              <a:gdLst/>
              <a:ahLst/>
              <a:cxnLst/>
              <a:rect l="l" t="t" r="r" b="b"/>
              <a:pathLst>
                <a:path w="1824533" h="711200">
                  <a:moveTo>
                    <a:pt x="912267" y="0"/>
                  </a:moveTo>
                  <a:lnTo>
                    <a:pt x="1824533" y="711200"/>
                  </a:lnTo>
                  <a:lnTo>
                    <a:pt x="0" y="711200"/>
                  </a:lnTo>
                  <a:lnTo>
                    <a:pt x="912267" y="0"/>
                  </a:ln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5083" y="206375"/>
              <a:ext cx="1254367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094170" y="3973755"/>
            <a:ext cx="7787948" cy="4831288"/>
          </a:xfrm>
          <a:custGeom>
            <a:avLst/>
            <a:gdLst/>
            <a:ahLst/>
            <a:cxnLst/>
            <a:rect l="l" t="t" r="r" b="b"/>
            <a:pathLst>
              <a:path w="7787948" h="4831288">
                <a:moveTo>
                  <a:pt x="0" y="0"/>
                </a:moveTo>
                <a:lnTo>
                  <a:pt x="7787948" y="0"/>
                </a:lnTo>
                <a:lnTo>
                  <a:pt x="7787948" y="4831288"/>
                </a:lnTo>
                <a:lnTo>
                  <a:pt x="0" y="48312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-10777"/>
            </a:stretch>
          </a:blipFill>
          <a:ln w="123825" cap="rnd">
            <a:solidFill>
              <a:srgbClr val="000000">
                <a:alpha val="40000"/>
              </a:srgbClr>
            </a:solidFill>
            <a:prstDash val="solid"/>
            <a:round/>
          </a:ln>
        </p:spPr>
        <p:txBody>
          <a:bodyPr/>
          <a:lstStyle/>
          <a:p>
            <a:endParaRPr lang="ar-EG"/>
          </a:p>
        </p:txBody>
      </p:sp>
      <p:sp>
        <p:nvSpPr>
          <p:cNvPr id="15" name="Freeform 15"/>
          <p:cNvSpPr/>
          <p:nvPr/>
        </p:nvSpPr>
        <p:spPr>
          <a:xfrm>
            <a:off x="9989570" y="3973755"/>
            <a:ext cx="7787948" cy="4803035"/>
          </a:xfrm>
          <a:custGeom>
            <a:avLst/>
            <a:gdLst/>
            <a:ahLst/>
            <a:cxnLst/>
            <a:rect l="l" t="t" r="r" b="b"/>
            <a:pathLst>
              <a:path w="7787948" h="4803035">
                <a:moveTo>
                  <a:pt x="0" y="0"/>
                </a:moveTo>
                <a:lnTo>
                  <a:pt x="7787948" y="0"/>
                </a:lnTo>
                <a:lnTo>
                  <a:pt x="7787948" y="4803035"/>
                </a:lnTo>
                <a:lnTo>
                  <a:pt x="0" y="48030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129"/>
            </a:stretch>
          </a:blipFill>
          <a:ln w="123825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ar-EG"/>
          </a:p>
        </p:txBody>
      </p:sp>
      <p:sp>
        <p:nvSpPr>
          <p:cNvPr id="16" name="TextBox 16"/>
          <p:cNvSpPr txBox="1"/>
          <p:nvPr/>
        </p:nvSpPr>
        <p:spPr>
          <a:xfrm>
            <a:off x="1094170" y="532226"/>
            <a:ext cx="6089303" cy="117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 b="1">
                <a:solidFill>
                  <a:srgbClr val="002C66"/>
                </a:solidFill>
                <a:latin typeface="Poppins Bold"/>
                <a:ea typeface="Poppins Bold"/>
                <a:cs typeface="Poppins Bold"/>
                <a:sym typeface="Poppins Bold"/>
              </a:rPr>
              <a:t>Data Cleaning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94170" y="1795710"/>
            <a:ext cx="10054482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100" spc="84">
                <a:solidFill>
                  <a:srgbClr val="002C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Refining the dataset and using "Data Imputation" techniques to handle inconsistent or missing information.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897794" y="3240329"/>
            <a:ext cx="1419374" cy="523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2C66"/>
                </a:solidFill>
                <a:latin typeface="Poppins Bold"/>
                <a:ea typeface="Poppins Bold"/>
                <a:cs typeface="Poppins Bold"/>
                <a:sym typeface="Poppins Bold"/>
              </a:rPr>
              <a:t>BEFORE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299170" y="3240329"/>
            <a:ext cx="1168747" cy="523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2C66"/>
                </a:solidFill>
                <a:latin typeface="Poppins Bold"/>
                <a:ea typeface="Poppins Bold"/>
                <a:cs typeface="Poppins Bold"/>
                <a:sym typeface="Poppins Bold"/>
              </a:rPr>
              <a:t>AFTER</a:t>
            </a:r>
          </a:p>
        </p:txBody>
      </p:sp>
      <p:grpSp>
        <p:nvGrpSpPr>
          <p:cNvPr id="20" name="Group 20"/>
          <p:cNvGrpSpPr/>
          <p:nvPr/>
        </p:nvGrpSpPr>
        <p:grpSpPr>
          <a:xfrm rot="5400000">
            <a:off x="9460181" y="-4846586"/>
            <a:ext cx="2315586" cy="7946284"/>
            <a:chOff x="0" y="0"/>
            <a:chExt cx="583389" cy="200198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83389" cy="2001987"/>
            </a:xfrm>
            <a:custGeom>
              <a:avLst/>
              <a:gdLst/>
              <a:ahLst/>
              <a:cxnLst/>
              <a:rect l="l" t="t" r="r" b="b"/>
              <a:pathLst>
                <a:path w="583389" h="2001987">
                  <a:moveTo>
                    <a:pt x="345264" y="0"/>
                  </a:moveTo>
                  <a:lnTo>
                    <a:pt x="583389" y="238125"/>
                  </a:lnTo>
                  <a:lnTo>
                    <a:pt x="583389" y="1763862"/>
                  </a:lnTo>
                  <a:lnTo>
                    <a:pt x="345264" y="2001987"/>
                  </a:lnTo>
                  <a:lnTo>
                    <a:pt x="238125" y="2001987"/>
                  </a:lnTo>
                  <a:lnTo>
                    <a:pt x="0" y="1763862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345264" y="0"/>
                  </a:lnTo>
                  <a:close/>
                </a:path>
              </a:pathLst>
            </a:custGeom>
            <a:solidFill>
              <a:srgbClr val="03459D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500" y="-60325"/>
              <a:ext cx="456389" cy="1998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6244740" y="4952038"/>
            <a:ext cx="1540528" cy="3853005"/>
            <a:chOff x="0" y="0"/>
            <a:chExt cx="2054038" cy="5137340"/>
          </a:xfrm>
        </p:grpSpPr>
        <p:sp>
          <p:nvSpPr>
            <p:cNvPr id="24" name="AutoShape 24"/>
            <p:cNvSpPr/>
            <p:nvPr/>
          </p:nvSpPr>
          <p:spPr>
            <a:xfrm flipV="1">
              <a:off x="10367" y="50800"/>
              <a:ext cx="2033304" cy="2219"/>
            </a:xfrm>
            <a:prstGeom prst="line">
              <a:avLst/>
            </a:prstGeom>
            <a:ln w="101600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25" name="AutoShape 25"/>
            <p:cNvSpPr/>
            <p:nvPr/>
          </p:nvSpPr>
          <p:spPr>
            <a:xfrm flipV="1">
              <a:off x="10367" y="4931074"/>
              <a:ext cx="2033304" cy="0"/>
            </a:xfrm>
            <a:prstGeom prst="line">
              <a:avLst/>
            </a:prstGeom>
            <a:ln w="101600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50800" y="50512"/>
              <a:ext cx="0" cy="4880562"/>
            </a:xfrm>
            <a:prstGeom prst="line">
              <a:avLst/>
            </a:prstGeom>
            <a:ln w="101600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27" name="AutoShape 27"/>
            <p:cNvSpPr/>
            <p:nvPr/>
          </p:nvSpPr>
          <p:spPr>
            <a:xfrm>
              <a:off x="2003238" y="52718"/>
              <a:ext cx="0" cy="5084622"/>
            </a:xfrm>
            <a:prstGeom prst="line">
              <a:avLst/>
            </a:prstGeom>
            <a:ln w="101600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ar-EG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085998" y="670817"/>
            <a:ext cx="2198673" cy="857039"/>
            <a:chOff x="0" y="0"/>
            <a:chExt cx="1824533" cy="711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4533" cy="711200"/>
            </a:xfrm>
            <a:custGeom>
              <a:avLst/>
              <a:gdLst/>
              <a:ahLst/>
              <a:cxnLst/>
              <a:rect l="l" t="t" r="r" b="b"/>
              <a:pathLst>
                <a:path w="1824533" h="711200">
                  <a:moveTo>
                    <a:pt x="912267" y="0"/>
                  </a:moveTo>
                  <a:lnTo>
                    <a:pt x="1824533" y="711200"/>
                  </a:lnTo>
                  <a:lnTo>
                    <a:pt x="0" y="711200"/>
                  </a:lnTo>
                  <a:lnTo>
                    <a:pt x="912267" y="0"/>
                  </a:ln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85083" y="206375"/>
              <a:ext cx="1254367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018389" y="-3308771"/>
            <a:ext cx="5968959" cy="5665085"/>
          </a:xfrm>
          <a:custGeom>
            <a:avLst/>
            <a:gdLst/>
            <a:ahLst/>
            <a:cxnLst/>
            <a:rect l="l" t="t" r="r" b="b"/>
            <a:pathLst>
              <a:path w="5968959" h="5665085">
                <a:moveTo>
                  <a:pt x="0" y="0"/>
                </a:moveTo>
                <a:lnTo>
                  <a:pt x="5968959" y="0"/>
                </a:lnTo>
                <a:lnTo>
                  <a:pt x="5968959" y="5665085"/>
                </a:lnTo>
                <a:lnTo>
                  <a:pt x="0" y="56650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Freeform 6"/>
          <p:cNvSpPr/>
          <p:nvPr/>
        </p:nvSpPr>
        <p:spPr>
          <a:xfrm>
            <a:off x="2041785" y="1993894"/>
            <a:ext cx="14204430" cy="7264406"/>
          </a:xfrm>
          <a:custGeom>
            <a:avLst/>
            <a:gdLst/>
            <a:ahLst/>
            <a:cxnLst/>
            <a:rect l="l" t="t" r="r" b="b"/>
            <a:pathLst>
              <a:path w="14204430" h="7264406">
                <a:moveTo>
                  <a:pt x="0" y="0"/>
                </a:moveTo>
                <a:lnTo>
                  <a:pt x="14204430" y="0"/>
                </a:lnTo>
                <a:lnTo>
                  <a:pt x="14204430" y="7264406"/>
                </a:lnTo>
                <a:lnTo>
                  <a:pt x="0" y="72644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194" b="-1194"/>
            </a:stretch>
          </a:blipFill>
          <a:ln w="123825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ar-EG"/>
          </a:p>
        </p:txBody>
      </p:sp>
      <p:sp>
        <p:nvSpPr>
          <p:cNvPr id="7" name="TextBox 7"/>
          <p:cNvSpPr txBox="1"/>
          <p:nvPr/>
        </p:nvSpPr>
        <p:spPr>
          <a:xfrm>
            <a:off x="1028700" y="415124"/>
            <a:ext cx="6187529" cy="117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 b="1">
                <a:solidFill>
                  <a:srgbClr val="002C66"/>
                </a:solidFill>
                <a:latin typeface="Poppins Bold"/>
                <a:ea typeface="Poppins Bold"/>
                <a:cs typeface="Poppins Bold"/>
                <a:sym typeface="Poppins Bold"/>
              </a:rPr>
              <a:t>Data Modeling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085998" y="670817"/>
            <a:ext cx="2198673" cy="857039"/>
            <a:chOff x="0" y="0"/>
            <a:chExt cx="1824533" cy="711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4533" cy="711200"/>
            </a:xfrm>
            <a:custGeom>
              <a:avLst/>
              <a:gdLst/>
              <a:ahLst/>
              <a:cxnLst/>
              <a:rect l="l" t="t" r="r" b="b"/>
              <a:pathLst>
                <a:path w="1824533" h="711200">
                  <a:moveTo>
                    <a:pt x="912267" y="0"/>
                  </a:moveTo>
                  <a:lnTo>
                    <a:pt x="1824533" y="711200"/>
                  </a:lnTo>
                  <a:lnTo>
                    <a:pt x="0" y="711200"/>
                  </a:lnTo>
                  <a:lnTo>
                    <a:pt x="912267" y="0"/>
                  </a:ln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85083" y="206375"/>
              <a:ext cx="1254367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303520" y="-1803843"/>
            <a:ext cx="5968959" cy="5665085"/>
          </a:xfrm>
          <a:custGeom>
            <a:avLst/>
            <a:gdLst/>
            <a:ahLst/>
            <a:cxnLst/>
            <a:rect l="l" t="t" r="r" b="b"/>
            <a:pathLst>
              <a:path w="5968959" h="5665085">
                <a:moveTo>
                  <a:pt x="0" y="0"/>
                </a:moveTo>
                <a:lnTo>
                  <a:pt x="5968960" y="0"/>
                </a:lnTo>
                <a:lnTo>
                  <a:pt x="5968960" y="5665086"/>
                </a:lnTo>
                <a:lnTo>
                  <a:pt x="0" y="56650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Freeform 6"/>
          <p:cNvSpPr/>
          <p:nvPr/>
        </p:nvSpPr>
        <p:spPr>
          <a:xfrm>
            <a:off x="664189" y="3080207"/>
            <a:ext cx="13296895" cy="1319968"/>
          </a:xfrm>
          <a:custGeom>
            <a:avLst/>
            <a:gdLst/>
            <a:ahLst/>
            <a:cxnLst/>
            <a:rect l="l" t="t" r="r" b="b"/>
            <a:pathLst>
              <a:path w="13296895" h="1319968">
                <a:moveTo>
                  <a:pt x="0" y="0"/>
                </a:moveTo>
                <a:lnTo>
                  <a:pt x="13296895" y="0"/>
                </a:lnTo>
                <a:lnTo>
                  <a:pt x="13296895" y="1319968"/>
                </a:lnTo>
                <a:lnTo>
                  <a:pt x="0" y="1319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54190"/>
            </a:stretch>
          </a:blipFill>
          <a:ln w="57150" cap="sq">
            <a:solidFill>
              <a:srgbClr val="FF3131"/>
            </a:solidFill>
            <a:prstDash val="solid"/>
            <a:miter/>
          </a:ln>
        </p:spPr>
        <p:txBody>
          <a:bodyPr/>
          <a:lstStyle/>
          <a:p>
            <a:endParaRPr lang="ar-EG"/>
          </a:p>
        </p:txBody>
      </p:sp>
      <p:sp>
        <p:nvSpPr>
          <p:cNvPr id="7" name="Freeform 7"/>
          <p:cNvSpPr/>
          <p:nvPr/>
        </p:nvSpPr>
        <p:spPr>
          <a:xfrm>
            <a:off x="664189" y="4727829"/>
            <a:ext cx="13296895" cy="390131"/>
          </a:xfrm>
          <a:custGeom>
            <a:avLst/>
            <a:gdLst/>
            <a:ahLst/>
            <a:cxnLst/>
            <a:rect l="l" t="t" r="r" b="b"/>
            <a:pathLst>
              <a:path w="13296895" h="390131">
                <a:moveTo>
                  <a:pt x="0" y="0"/>
                </a:moveTo>
                <a:lnTo>
                  <a:pt x="13296895" y="0"/>
                </a:lnTo>
                <a:lnTo>
                  <a:pt x="13296895" y="390131"/>
                </a:lnTo>
                <a:lnTo>
                  <a:pt x="0" y="3901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55393"/>
            </a:stretch>
          </a:blipFill>
          <a:ln w="57150" cap="sq">
            <a:solidFill>
              <a:srgbClr val="FF3131"/>
            </a:solidFill>
            <a:prstDash val="solid"/>
            <a:miter/>
          </a:ln>
        </p:spPr>
        <p:txBody>
          <a:bodyPr/>
          <a:lstStyle/>
          <a:p>
            <a:endParaRPr lang="ar-EG"/>
          </a:p>
        </p:txBody>
      </p:sp>
      <p:sp>
        <p:nvSpPr>
          <p:cNvPr id="8" name="Freeform 8"/>
          <p:cNvSpPr/>
          <p:nvPr/>
        </p:nvSpPr>
        <p:spPr>
          <a:xfrm>
            <a:off x="664189" y="7683291"/>
            <a:ext cx="13296895" cy="1939254"/>
          </a:xfrm>
          <a:custGeom>
            <a:avLst/>
            <a:gdLst/>
            <a:ahLst/>
            <a:cxnLst/>
            <a:rect l="l" t="t" r="r" b="b"/>
            <a:pathLst>
              <a:path w="13296895" h="1939254">
                <a:moveTo>
                  <a:pt x="0" y="0"/>
                </a:moveTo>
                <a:lnTo>
                  <a:pt x="13296895" y="0"/>
                </a:lnTo>
                <a:lnTo>
                  <a:pt x="13296895" y="1939254"/>
                </a:lnTo>
                <a:lnTo>
                  <a:pt x="0" y="19392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27434"/>
            </a:stretch>
          </a:blipFill>
          <a:ln w="57150" cap="sq">
            <a:solidFill>
              <a:srgbClr val="FF3131"/>
            </a:solidFill>
            <a:prstDash val="solid"/>
            <a:miter/>
          </a:ln>
        </p:spPr>
        <p:txBody>
          <a:bodyPr/>
          <a:lstStyle/>
          <a:p>
            <a:endParaRPr lang="ar-EG"/>
          </a:p>
        </p:txBody>
      </p:sp>
      <p:sp>
        <p:nvSpPr>
          <p:cNvPr id="9" name="Freeform 9"/>
          <p:cNvSpPr/>
          <p:nvPr/>
        </p:nvSpPr>
        <p:spPr>
          <a:xfrm>
            <a:off x="664189" y="5398570"/>
            <a:ext cx="13296895" cy="2008266"/>
          </a:xfrm>
          <a:custGeom>
            <a:avLst/>
            <a:gdLst/>
            <a:ahLst/>
            <a:cxnLst/>
            <a:rect l="l" t="t" r="r" b="b"/>
            <a:pathLst>
              <a:path w="13296895" h="2008266">
                <a:moveTo>
                  <a:pt x="0" y="0"/>
                </a:moveTo>
                <a:lnTo>
                  <a:pt x="13296895" y="0"/>
                </a:lnTo>
                <a:lnTo>
                  <a:pt x="13296895" y="2008266"/>
                </a:lnTo>
                <a:lnTo>
                  <a:pt x="0" y="2008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28467"/>
            </a:stretch>
          </a:blipFill>
          <a:ln w="57150" cap="sq">
            <a:solidFill>
              <a:srgbClr val="FF3131"/>
            </a:solidFill>
            <a:prstDash val="solid"/>
            <a:miter/>
          </a:ln>
        </p:spPr>
        <p:txBody>
          <a:bodyPr/>
          <a:lstStyle/>
          <a:p>
            <a:endParaRPr lang="ar-EG"/>
          </a:p>
        </p:txBody>
      </p:sp>
      <p:sp>
        <p:nvSpPr>
          <p:cNvPr id="10" name="Freeform 10"/>
          <p:cNvSpPr/>
          <p:nvPr/>
        </p:nvSpPr>
        <p:spPr>
          <a:xfrm>
            <a:off x="14322928" y="1960074"/>
            <a:ext cx="2784437" cy="7662471"/>
          </a:xfrm>
          <a:custGeom>
            <a:avLst/>
            <a:gdLst/>
            <a:ahLst/>
            <a:cxnLst/>
            <a:rect l="l" t="t" r="r" b="b"/>
            <a:pathLst>
              <a:path w="2784437" h="7662471">
                <a:moveTo>
                  <a:pt x="0" y="0"/>
                </a:moveTo>
                <a:lnTo>
                  <a:pt x="2784438" y="0"/>
                </a:lnTo>
                <a:lnTo>
                  <a:pt x="2784438" y="7662471"/>
                </a:lnTo>
                <a:lnTo>
                  <a:pt x="0" y="76624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71005"/>
            </a:stretch>
          </a:blipFill>
          <a:ln w="57150" cap="sq">
            <a:solidFill>
              <a:srgbClr val="FF3131"/>
            </a:solidFill>
            <a:prstDash val="solid"/>
            <a:miter/>
          </a:ln>
        </p:spPr>
        <p:txBody>
          <a:bodyPr/>
          <a:lstStyle/>
          <a:p>
            <a:endParaRPr lang="ar-EG"/>
          </a:p>
        </p:txBody>
      </p:sp>
      <p:sp>
        <p:nvSpPr>
          <p:cNvPr id="11" name="TextBox 11"/>
          <p:cNvSpPr txBox="1"/>
          <p:nvPr/>
        </p:nvSpPr>
        <p:spPr>
          <a:xfrm>
            <a:off x="1028700" y="1836249"/>
            <a:ext cx="13075153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100" spc="84">
                <a:solidFill>
                  <a:srgbClr val="002C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formula language in Power BI used to create custom calculations, measures, and calculated columns for advanced data analysis, modeling, and dynamic reporting.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415124"/>
            <a:ext cx="1798737" cy="117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 b="1">
                <a:solidFill>
                  <a:srgbClr val="002C66"/>
                </a:solidFill>
                <a:latin typeface="Poppins Bold"/>
                <a:ea typeface="Poppins Bold"/>
                <a:cs typeface="Poppins Bold"/>
                <a:sym typeface="Poppins Bold"/>
              </a:rPr>
              <a:t>DAX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085998" y="670817"/>
            <a:ext cx="2198673" cy="857039"/>
            <a:chOff x="0" y="0"/>
            <a:chExt cx="1824533" cy="711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4533" cy="711200"/>
            </a:xfrm>
            <a:custGeom>
              <a:avLst/>
              <a:gdLst/>
              <a:ahLst/>
              <a:cxnLst/>
              <a:rect l="l" t="t" r="r" b="b"/>
              <a:pathLst>
                <a:path w="1824533" h="711200">
                  <a:moveTo>
                    <a:pt x="912267" y="0"/>
                  </a:moveTo>
                  <a:lnTo>
                    <a:pt x="1824533" y="711200"/>
                  </a:lnTo>
                  <a:lnTo>
                    <a:pt x="0" y="711200"/>
                  </a:lnTo>
                  <a:lnTo>
                    <a:pt x="912267" y="0"/>
                  </a:ln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85083" y="206375"/>
              <a:ext cx="1254367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303520" y="-1803843"/>
            <a:ext cx="5968959" cy="5665085"/>
          </a:xfrm>
          <a:custGeom>
            <a:avLst/>
            <a:gdLst/>
            <a:ahLst/>
            <a:cxnLst/>
            <a:rect l="l" t="t" r="r" b="b"/>
            <a:pathLst>
              <a:path w="5968959" h="5665085">
                <a:moveTo>
                  <a:pt x="0" y="0"/>
                </a:moveTo>
                <a:lnTo>
                  <a:pt x="5968960" y="0"/>
                </a:lnTo>
                <a:lnTo>
                  <a:pt x="5968960" y="5665086"/>
                </a:lnTo>
                <a:lnTo>
                  <a:pt x="0" y="56650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TextBox 6"/>
          <p:cNvSpPr txBox="1"/>
          <p:nvPr/>
        </p:nvSpPr>
        <p:spPr>
          <a:xfrm>
            <a:off x="1028700" y="415124"/>
            <a:ext cx="6097191" cy="117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 b="1">
                <a:solidFill>
                  <a:srgbClr val="002C66"/>
                </a:solidFill>
                <a:latin typeface="Poppins Bold"/>
                <a:ea typeface="Poppins Bold"/>
                <a:cs typeface="Poppins Bold"/>
                <a:sym typeface="Poppins Bold"/>
              </a:rPr>
              <a:t>Sample Visual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52826" y="2502949"/>
            <a:ext cx="8638970" cy="2640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24"/>
              </a:lnSpc>
              <a:spcBef>
                <a:spcPct val="0"/>
              </a:spcBef>
            </a:pPr>
            <a:r>
              <a:rPr lang="en-US" sz="2347" spc="93">
                <a:solidFill>
                  <a:srgbClr val="002C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These charts are used to perform side-by-side comparisons between multiple data series </a:t>
            </a:r>
            <a:r>
              <a:rPr lang="en-US" sz="2347" b="1" spc="93">
                <a:solidFill>
                  <a:srgbClr val="002C6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across distinct categories</a:t>
            </a:r>
            <a:r>
              <a:rPr lang="en-US" sz="2347" spc="93">
                <a:solidFill>
                  <a:srgbClr val="002C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 They are designed to highlight differences and variances between groups, making it easy to identify trends and compare individual values directly within a single view.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92" y="1415653"/>
            <a:ext cx="5236890" cy="4164254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614500" y="5067300"/>
            <a:ext cx="2327473" cy="44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100" spc="84">
                <a:solidFill>
                  <a:srgbClr val="002C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Clustered Bar Chart 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6572" y="5808011"/>
            <a:ext cx="4343328" cy="4028497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3093726" y="9512572"/>
            <a:ext cx="1369020" cy="44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100" spc="84">
                <a:solidFill>
                  <a:srgbClr val="002C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Donut Chart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52826" y="6617749"/>
            <a:ext cx="8638970" cy="2640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24"/>
              </a:lnSpc>
              <a:spcBef>
                <a:spcPct val="0"/>
              </a:spcBef>
            </a:pPr>
            <a:r>
              <a:rPr lang="en-US" sz="2347" spc="93">
                <a:solidFill>
                  <a:srgbClr val="002C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These visuals are ideal for representing </a:t>
            </a:r>
            <a:r>
              <a:rPr lang="en-US" sz="2347" b="1" spc="93">
                <a:solidFill>
                  <a:srgbClr val="002C6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"part-to-whole</a:t>
            </a:r>
            <a:r>
              <a:rPr lang="en-US" sz="2347" spc="93">
                <a:solidFill>
                  <a:srgbClr val="002C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" </a:t>
            </a:r>
            <a:r>
              <a:rPr lang="en-US" sz="2347" b="1" spc="93">
                <a:solidFill>
                  <a:srgbClr val="002C6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relationships and illustrating categorical proportions</a:t>
            </a:r>
            <a:r>
              <a:rPr lang="en-US" sz="2347" spc="93">
                <a:solidFill>
                  <a:srgbClr val="002C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 By focusing on the arc length, they allow the viewer to quickly understand the distribution of a total amount among various segments and evaluate the relative weight of each category.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085998" y="670817"/>
            <a:ext cx="2198673" cy="857039"/>
            <a:chOff x="0" y="0"/>
            <a:chExt cx="1824533" cy="711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4533" cy="711200"/>
            </a:xfrm>
            <a:custGeom>
              <a:avLst/>
              <a:gdLst/>
              <a:ahLst/>
              <a:cxnLst/>
              <a:rect l="l" t="t" r="r" b="b"/>
              <a:pathLst>
                <a:path w="1824533" h="711200">
                  <a:moveTo>
                    <a:pt x="912267" y="0"/>
                  </a:moveTo>
                  <a:lnTo>
                    <a:pt x="1824533" y="711200"/>
                  </a:lnTo>
                  <a:lnTo>
                    <a:pt x="0" y="711200"/>
                  </a:lnTo>
                  <a:lnTo>
                    <a:pt x="912267" y="0"/>
                  </a:ln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85083" y="206375"/>
              <a:ext cx="1254367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303520" y="-1803843"/>
            <a:ext cx="5968959" cy="5665085"/>
          </a:xfrm>
          <a:custGeom>
            <a:avLst/>
            <a:gdLst/>
            <a:ahLst/>
            <a:cxnLst/>
            <a:rect l="l" t="t" r="r" b="b"/>
            <a:pathLst>
              <a:path w="5968959" h="5665085">
                <a:moveTo>
                  <a:pt x="0" y="0"/>
                </a:moveTo>
                <a:lnTo>
                  <a:pt x="5968960" y="0"/>
                </a:lnTo>
                <a:lnTo>
                  <a:pt x="5968960" y="5665086"/>
                </a:lnTo>
                <a:lnTo>
                  <a:pt x="0" y="56650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TextBox 6"/>
          <p:cNvSpPr txBox="1"/>
          <p:nvPr/>
        </p:nvSpPr>
        <p:spPr>
          <a:xfrm>
            <a:off x="990600" y="478584"/>
            <a:ext cx="6097191" cy="117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 b="1" dirty="0">
                <a:solidFill>
                  <a:srgbClr val="002C66"/>
                </a:solidFill>
                <a:latin typeface="Poppins Bold"/>
                <a:ea typeface="Poppins Bold"/>
                <a:cs typeface="Poppins Bold"/>
                <a:sym typeface="Poppins Bold"/>
              </a:rPr>
              <a:t>Sample Visual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348051" y="2445799"/>
            <a:ext cx="8638970" cy="2640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24"/>
              </a:lnSpc>
              <a:spcBef>
                <a:spcPct val="0"/>
              </a:spcBef>
            </a:pPr>
            <a:r>
              <a:rPr lang="en-US" sz="2347" spc="93">
                <a:solidFill>
                  <a:srgbClr val="002C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These charts are used to visualize the internal composition of a total value by breaking it down into </a:t>
            </a:r>
            <a:r>
              <a:rPr lang="en-US" sz="2347" b="1" spc="93">
                <a:solidFill>
                  <a:srgbClr val="002C6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sub-categories</a:t>
            </a:r>
            <a:r>
              <a:rPr lang="en-US" sz="2347" spc="93">
                <a:solidFill>
                  <a:srgbClr val="002C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 They provide a clear view of how different components contribute to the overall sum, while still allowing for a primary comparison of total volumes across different data points.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33574" y="5067300"/>
            <a:ext cx="2689324" cy="44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100" spc="84">
                <a:solidFill>
                  <a:srgbClr val="002C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Stacked Column Charts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09961" y="9479280"/>
            <a:ext cx="1136551" cy="44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100" spc="84">
                <a:solidFill>
                  <a:srgbClr val="002C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Treemaps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348051" y="6432116"/>
            <a:ext cx="8638970" cy="2640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24"/>
              </a:lnSpc>
              <a:spcBef>
                <a:spcPct val="0"/>
              </a:spcBef>
            </a:pPr>
            <a:r>
              <a:rPr lang="en-US" sz="2347" spc="93">
                <a:solidFill>
                  <a:srgbClr val="002C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Treemaps are used to display large sets of hierarchical data through nested rectangles of varying sizes. This visual is effective for </a:t>
            </a:r>
            <a:r>
              <a:rPr lang="en-US" sz="2347" b="1" spc="93">
                <a:solidFill>
                  <a:srgbClr val="002C6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ranking categories and identifying dominant patterns</a:t>
            </a:r>
            <a:r>
              <a:rPr lang="en-US" sz="2347" spc="93">
                <a:solidFill>
                  <a:srgbClr val="002C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within complex datasets, where the area of each rectangle is proportional to the value it represents.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526" y="1488658"/>
            <a:ext cx="4725421" cy="3991477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898" y="5880790"/>
            <a:ext cx="4936961" cy="389560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085998" y="670817"/>
            <a:ext cx="2198673" cy="857039"/>
            <a:chOff x="0" y="0"/>
            <a:chExt cx="1824533" cy="711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4533" cy="711200"/>
            </a:xfrm>
            <a:custGeom>
              <a:avLst/>
              <a:gdLst/>
              <a:ahLst/>
              <a:cxnLst/>
              <a:rect l="l" t="t" r="r" b="b"/>
              <a:pathLst>
                <a:path w="1824533" h="711200">
                  <a:moveTo>
                    <a:pt x="912267" y="0"/>
                  </a:moveTo>
                  <a:lnTo>
                    <a:pt x="1824533" y="711200"/>
                  </a:lnTo>
                  <a:lnTo>
                    <a:pt x="0" y="711200"/>
                  </a:lnTo>
                  <a:lnTo>
                    <a:pt x="912267" y="0"/>
                  </a:ln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85083" y="206375"/>
              <a:ext cx="1254367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920186" y="-4565748"/>
            <a:ext cx="5968959" cy="5665085"/>
          </a:xfrm>
          <a:custGeom>
            <a:avLst/>
            <a:gdLst/>
            <a:ahLst/>
            <a:cxnLst/>
            <a:rect l="l" t="t" r="r" b="b"/>
            <a:pathLst>
              <a:path w="5968959" h="5665085">
                <a:moveTo>
                  <a:pt x="0" y="0"/>
                </a:moveTo>
                <a:lnTo>
                  <a:pt x="5968960" y="0"/>
                </a:lnTo>
                <a:lnTo>
                  <a:pt x="5968960" y="5665085"/>
                </a:lnTo>
                <a:lnTo>
                  <a:pt x="0" y="56650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7" name="TextBox 7"/>
          <p:cNvSpPr txBox="1"/>
          <p:nvPr/>
        </p:nvSpPr>
        <p:spPr>
          <a:xfrm>
            <a:off x="965299" y="599010"/>
            <a:ext cx="8178701" cy="938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 b="1" dirty="0">
                <a:solidFill>
                  <a:srgbClr val="002C66"/>
                </a:solidFill>
                <a:latin typeface="Poppins Bold"/>
                <a:ea typeface="Poppins Bold"/>
                <a:cs typeface="Poppins Bold"/>
                <a:sym typeface="Poppins Bold"/>
              </a:rPr>
              <a:t>Reports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8" name="Add-in" descr="Add-in content for Microsoft Power BI.">
                <a:extLst>
                  <a:ext uri="{FF2B5EF4-FFF2-40B4-BE49-F238E27FC236}">
                    <a16:creationId xmlns:a16="http://schemas.microsoft.com/office/drawing/2014/main" id="{40B05DA0-6A7D-7AF9-3060-2AD2964CFB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0477402"/>
                  </p:ext>
                </p:extLst>
              </p:nvPr>
            </p:nvGraphicFramePr>
            <p:xfrm>
              <a:off x="1253503" y="1855131"/>
              <a:ext cx="15780994" cy="783285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8" name="Add-in" descr="Add-in content for Microsoft Power BI.">
                <a:extLst>
                  <a:ext uri="{FF2B5EF4-FFF2-40B4-BE49-F238E27FC236}">
                    <a16:creationId xmlns:a16="http://schemas.microsoft.com/office/drawing/2014/main" id="{40B05DA0-6A7D-7AF9-3060-2AD2964CFBD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53503" y="1855131"/>
                <a:ext cx="15780994" cy="7832859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140705" y="3704214"/>
            <a:ext cx="3968678" cy="9252543"/>
            <a:chOff x="0" y="0"/>
            <a:chExt cx="5291571" cy="12336724"/>
          </a:xfrm>
        </p:grpSpPr>
        <p:grpSp>
          <p:nvGrpSpPr>
            <p:cNvPr id="3" name="Group 3"/>
            <p:cNvGrpSpPr/>
            <p:nvPr/>
          </p:nvGrpSpPr>
          <p:grpSpPr>
            <a:xfrm rot="-10800000">
              <a:off x="0" y="6381617"/>
              <a:ext cx="3417647" cy="5955107"/>
              <a:chOff x="0" y="0"/>
              <a:chExt cx="645782" cy="112524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45782" cy="1125247"/>
              </a:xfrm>
              <a:custGeom>
                <a:avLst/>
                <a:gdLst/>
                <a:ahLst/>
                <a:cxnLst/>
                <a:rect l="l" t="t" r="r" b="b"/>
                <a:pathLst>
                  <a:path w="645782" h="1125247">
                    <a:moveTo>
                      <a:pt x="407657" y="0"/>
                    </a:moveTo>
                    <a:lnTo>
                      <a:pt x="645782" y="238125"/>
                    </a:lnTo>
                    <a:lnTo>
                      <a:pt x="645782" y="887122"/>
                    </a:lnTo>
                    <a:lnTo>
                      <a:pt x="407657" y="1125247"/>
                    </a:lnTo>
                    <a:lnTo>
                      <a:pt x="238125" y="1125247"/>
                    </a:lnTo>
                    <a:lnTo>
                      <a:pt x="0" y="887122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407657" y="0"/>
                    </a:lnTo>
                    <a:close/>
                  </a:path>
                </a:pathLst>
              </a:custGeom>
              <a:solidFill>
                <a:srgbClr val="03459D"/>
              </a:solidFill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63500" y="-60325"/>
                <a:ext cx="518782" cy="11220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80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 rot="-10800000">
              <a:off x="904634" y="3436274"/>
              <a:ext cx="3417647" cy="7040033"/>
              <a:chOff x="0" y="0"/>
              <a:chExt cx="645782" cy="133024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5782" cy="1330249"/>
              </a:xfrm>
              <a:custGeom>
                <a:avLst/>
                <a:gdLst/>
                <a:ahLst/>
                <a:cxnLst/>
                <a:rect l="l" t="t" r="r" b="b"/>
                <a:pathLst>
                  <a:path w="645782" h="1330249">
                    <a:moveTo>
                      <a:pt x="407657" y="0"/>
                    </a:moveTo>
                    <a:lnTo>
                      <a:pt x="645782" y="238125"/>
                    </a:lnTo>
                    <a:lnTo>
                      <a:pt x="645782" y="1092124"/>
                    </a:lnTo>
                    <a:lnTo>
                      <a:pt x="407657" y="1330249"/>
                    </a:lnTo>
                    <a:lnTo>
                      <a:pt x="238125" y="1330249"/>
                    </a:lnTo>
                    <a:lnTo>
                      <a:pt x="0" y="1092124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407657" y="0"/>
                    </a:lnTo>
                    <a:close/>
                  </a:path>
                </a:pathLst>
              </a:custGeom>
              <a:solidFill>
                <a:srgbClr val="002C66"/>
              </a:solidFill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3500" y="-60325"/>
                <a:ext cx="518782" cy="13270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80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-10800000">
              <a:off x="1873924" y="0"/>
              <a:ext cx="3417647" cy="10476307"/>
              <a:chOff x="0" y="0"/>
              <a:chExt cx="645782" cy="197955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45782" cy="1979550"/>
              </a:xfrm>
              <a:custGeom>
                <a:avLst/>
                <a:gdLst/>
                <a:ahLst/>
                <a:cxnLst/>
                <a:rect l="l" t="t" r="r" b="b"/>
                <a:pathLst>
                  <a:path w="645782" h="1979550">
                    <a:moveTo>
                      <a:pt x="407657" y="0"/>
                    </a:moveTo>
                    <a:lnTo>
                      <a:pt x="645782" y="238125"/>
                    </a:lnTo>
                    <a:lnTo>
                      <a:pt x="645782" y="1741425"/>
                    </a:lnTo>
                    <a:lnTo>
                      <a:pt x="407657" y="1979550"/>
                    </a:lnTo>
                    <a:lnTo>
                      <a:pt x="238125" y="1979550"/>
                    </a:lnTo>
                    <a:lnTo>
                      <a:pt x="0" y="1741425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407657" y="0"/>
                    </a:lnTo>
                    <a:close/>
                  </a:path>
                </a:pathLst>
              </a:custGeom>
              <a:solidFill>
                <a:srgbClr val="03459D"/>
              </a:solidFill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3500" y="-60325"/>
                <a:ext cx="518782" cy="1976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80"/>
                  </a:lnSpc>
                </a:pPr>
                <a:endParaRPr/>
              </a:p>
            </p:txBody>
          </p:sp>
        </p:grpSp>
      </p:grpSp>
      <p:sp>
        <p:nvSpPr>
          <p:cNvPr id="12" name="TextBox 12"/>
          <p:cNvSpPr txBox="1"/>
          <p:nvPr/>
        </p:nvSpPr>
        <p:spPr>
          <a:xfrm>
            <a:off x="4154446" y="653361"/>
            <a:ext cx="10756216" cy="997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97"/>
              </a:lnSpc>
              <a:spcBef>
                <a:spcPct val="0"/>
              </a:spcBef>
            </a:pPr>
            <a:r>
              <a:rPr lang="en-US" sz="5569" b="1">
                <a:solidFill>
                  <a:srgbClr val="002C66"/>
                </a:solidFill>
                <a:latin typeface="Poppins Bold"/>
                <a:ea typeface="Poppins Bold"/>
                <a:cs typeface="Poppins Bold"/>
                <a:sym typeface="Poppins Bold"/>
              </a:rPr>
              <a:t>Recommendations &amp; Insights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088328"/>
            <a:ext cx="15416602" cy="6256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4601" lvl="1" indent="-292301" algn="l">
              <a:lnSpc>
                <a:spcPts val="4982"/>
              </a:lnSpc>
              <a:buFont typeface="Arial"/>
              <a:buChar char="•"/>
            </a:pPr>
            <a:r>
              <a:rPr lang="en-US" sz="2707" spc="8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Egyptian real estate market is large, dynamic, and highly active, yet it follows clear and consistent patterns rather than randomness.</a:t>
            </a:r>
          </a:p>
          <a:p>
            <a:pPr marL="584601" lvl="1" indent="-292301" algn="l">
              <a:lnSpc>
                <a:spcPts val="4982"/>
              </a:lnSpc>
              <a:buFont typeface="Arial"/>
              <a:buChar char="•"/>
            </a:pPr>
            <a:r>
              <a:rPr lang="en-US" sz="2707" spc="8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Market demand is primarily driven by families, as reflected in the dominance of medium-to-large units and 3-bedroom properties.</a:t>
            </a:r>
          </a:p>
          <a:p>
            <a:pPr marL="584601" lvl="1" indent="-292301" algn="l">
              <a:lnSpc>
                <a:spcPts val="4982"/>
              </a:lnSpc>
              <a:buFont typeface="Arial"/>
              <a:buChar char="•"/>
            </a:pPr>
            <a:r>
              <a:rPr lang="en-US" sz="2707" spc="8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Pricing is not fixed; it is shaped by the interaction of multiple factors, including location, property specifications, and market supply.</a:t>
            </a:r>
          </a:p>
          <a:p>
            <a:pPr marL="584601" lvl="1" indent="-292301" algn="l">
              <a:lnSpc>
                <a:spcPts val="4982"/>
              </a:lnSpc>
              <a:buFont typeface="Arial"/>
              <a:buChar char="•"/>
            </a:pPr>
            <a:r>
              <a:rPr lang="en-US" sz="2707" spc="8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continuous increase in listings over time reflects a rapidly expanding and evolving real estate market.</a:t>
            </a:r>
          </a:p>
          <a:p>
            <a:pPr marL="584601" lvl="1" indent="-292301" algn="l">
              <a:lnSpc>
                <a:spcPts val="4982"/>
              </a:lnSpc>
              <a:buFont typeface="Arial"/>
              <a:buChar char="•"/>
            </a:pPr>
            <a:r>
              <a:rPr lang="en-US" sz="2707" spc="8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dominance of unfurnished units highlights buyers’ preference for flexibility and customization.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76785" y="8717776"/>
            <a:ext cx="14168385" cy="995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02"/>
              </a:lnSpc>
              <a:spcBef>
                <a:spcPct val="0"/>
              </a:spcBef>
            </a:pPr>
            <a:r>
              <a:rPr lang="en-US" sz="2787" b="1">
                <a:solidFill>
                  <a:srgbClr val="002C66"/>
                </a:solidFill>
                <a:latin typeface="Poppins Bold"/>
                <a:ea typeface="Poppins Bold"/>
                <a:cs typeface="Poppins Bold"/>
                <a:sym typeface="Poppins Bold"/>
              </a:rPr>
              <a:t>Ultimately, successful real estate decisions are not based on a single metric, but on a comprehensive understanding of the entire market landscape.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9607541" y="2243860"/>
            <a:ext cx="3575375" cy="5018231"/>
            <a:chOff x="0" y="0"/>
            <a:chExt cx="1111329" cy="15598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11329" cy="1559810"/>
            </a:xfrm>
            <a:custGeom>
              <a:avLst/>
              <a:gdLst/>
              <a:ahLst/>
              <a:cxnLst/>
              <a:rect l="l" t="t" r="r" b="b"/>
              <a:pathLst>
                <a:path w="1111329" h="1559810">
                  <a:moveTo>
                    <a:pt x="873204" y="0"/>
                  </a:moveTo>
                  <a:lnTo>
                    <a:pt x="1111329" y="238125"/>
                  </a:lnTo>
                  <a:lnTo>
                    <a:pt x="1111329" y="1321685"/>
                  </a:lnTo>
                  <a:lnTo>
                    <a:pt x="873204" y="1559810"/>
                  </a:lnTo>
                  <a:lnTo>
                    <a:pt x="238125" y="1559810"/>
                  </a:lnTo>
                  <a:lnTo>
                    <a:pt x="0" y="132168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873204" y="0"/>
                  </a:lnTo>
                  <a:close/>
                </a:path>
              </a:pathLst>
            </a:custGeom>
            <a:solidFill>
              <a:srgbClr val="03459D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3500" y="-60325"/>
              <a:ext cx="984329" cy="15566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3163879" y="1585228"/>
            <a:ext cx="2927675" cy="3065606"/>
            <a:chOff x="0" y="0"/>
            <a:chExt cx="910005" cy="95287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10005" cy="952878"/>
            </a:xfrm>
            <a:custGeom>
              <a:avLst/>
              <a:gdLst/>
              <a:ahLst/>
              <a:cxnLst/>
              <a:rect l="l" t="t" r="r" b="b"/>
              <a:pathLst>
                <a:path w="910005" h="952878">
                  <a:moveTo>
                    <a:pt x="671880" y="0"/>
                  </a:moveTo>
                  <a:lnTo>
                    <a:pt x="910005" y="238125"/>
                  </a:lnTo>
                  <a:lnTo>
                    <a:pt x="910005" y="714753"/>
                  </a:lnTo>
                  <a:lnTo>
                    <a:pt x="671880" y="952878"/>
                  </a:lnTo>
                  <a:lnTo>
                    <a:pt x="238125" y="952878"/>
                  </a:lnTo>
                  <a:lnTo>
                    <a:pt x="0" y="714753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671880" y="0"/>
                  </a:lnTo>
                  <a:close/>
                </a:path>
              </a:pathLst>
            </a:custGeom>
            <a:solidFill>
              <a:srgbClr val="03459D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3500" y="-60325"/>
              <a:ext cx="783005" cy="9497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5400000">
            <a:off x="13216653" y="5686105"/>
            <a:ext cx="2927675" cy="3065606"/>
            <a:chOff x="0" y="0"/>
            <a:chExt cx="910005" cy="9528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0005" cy="952878"/>
            </a:xfrm>
            <a:custGeom>
              <a:avLst/>
              <a:gdLst/>
              <a:ahLst/>
              <a:cxnLst/>
              <a:rect l="l" t="t" r="r" b="b"/>
              <a:pathLst>
                <a:path w="910005" h="952878">
                  <a:moveTo>
                    <a:pt x="671880" y="0"/>
                  </a:moveTo>
                  <a:lnTo>
                    <a:pt x="910005" y="238125"/>
                  </a:lnTo>
                  <a:lnTo>
                    <a:pt x="910005" y="714753"/>
                  </a:lnTo>
                  <a:lnTo>
                    <a:pt x="671880" y="952878"/>
                  </a:lnTo>
                  <a:lnTo>
                    <a:pt x="238125" y="952878"/>
                  </a:lnTo>
                  <a:lnTo>
                    <a:pt x="0" y="714753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671880" y="0"/>
                  </a:lnTo>
                  <a:close/>
                </a:path>
              </a:pathLst>
            </a:custGeom>
            <a:solidFill>
              <a:srgbClr val="002C66">
                <a:alpha val="69804"/>
              </a:srgbClr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500" y="-60325"/>
              <a:ext cx="783005" cy="9497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5400000">
            <a:off x="4949514" y="2614420"/>
            <a:ext cx="3575375" cy="5839209"/>
            <a:chOff x="0" y="0"/>
            <a:chExt cx="1111329" cy="181499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11329" cy="1814993"/>
            </a:xfrm>
            <a:custGeom>
              <a:avLst/>
              <a:gdLst/>
              <a:ahLst/>
              <a:cxnLst/>
              <a:rect l="l" t="t" r="r" b="b"/>
              <a:pathLst>
                <a:path w="1111329" h="1814993">
                  <a:moveTo>
                    <a:pt x="873204" y="0"/>
                  </a:moveTo>
                  <a:lnTo>
                    <a:pt x="1111329" y="238125"/>
                  </a:lnTo>
                  <a:lnTo>
                    <a:pt x="1111329" y="1576868"/>
                  </a:lnTo>
                  <a:lnTo>
                    <a:pt x="873204" y="1814993"/>
                  </a:lnTo>
                  <a:lnTo>
                    <a:pt x="238125" y="1814993"/>
                  </a:lnTo>
                  <a:lnTo>
                    <a:pt x="0" y="1576868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873204" y="0"/>
                  </a:lnTo>
                  <a:close/>
                </a:path>
              </a:pathLst>
            </a:custGeom>
            <a:solidFill>
              <a:srgbClr val="002C66">
                <a:alpha val="82745"/>
              </a:srgbClr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500" y="-60325"/>
              <a:ext cx="984329" cy="1811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5400000">
            <a:off x="3211504" y="6424072"/>
            <a:ext cx="2641925" cy="2875106"/>
            <a:chOff x="0" y="0"/>
            <a:chExt cx="821186" cy="89366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21186" cy="893665"/>
            </a:xfrm>
            <a:custGeom>
              <a:avLst/>
              <a:gdLst/>
              <a:ahLst/>
              <a:cxnLst/>
              <a:rect l="l" t="t" r="r" b="b"/>
              <a:pathLst>
                <a:path w="821186" h="893665">
                  <a:moveTo>
                    <a:pt x="583061" y="0"/>
                  </a:moveTo>
                  <a:lnTo>
                    <a:pt x="821186" y="238125"/>
                  </a:lnTo>
                  <a:lnTo>
                    <a:pt x="821186" y="655540"/>
                  </a:lnTo>
                  <a:lnTo>
                    <a:pt x="583061" y="893665"/>
                  </a:lnTo>
                  <a:lnTo>
                    <a:pt x="238125" y="893665"/>
                  </a:lnTo>
                  <a:lnTo>
                    <a:pt x="0" y="655540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83061" y="0"/>
                  </a:lnTo>
                  <a:close/>
                </a:path>
              </a:pathLst>
            </a:custGeom>
            <a:solidFill>
              <a:srgbClr val="03459D">
                <a:alpha val="92941"/>
              </a:srgbClr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500" y="-60325"/>
              <a:ext cx="694186" cy="890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5400000">
            <a:off x="9773396" y="987822"/>
            <a:ext cx="2641925" cy="2875106"/>
            <a:chOff x="0" y="0"/>
            <a:chExt cx="821186" cy="89366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21186" cy="893665"/>
            </a:xfrm>
            <a:custGeom>
              <a:avLst/>
              <a:gdLst/>
              <a:ahLst/>
              <a:cxnLst/>
              <a:rect l="l" t="t" r="r" b="b"/>
              <a:pathLst>
                <a:path w="821186" h="893665">
                  <a:moveTo>
                    <a:pt x="583061" y="0"/>
                  </a:moveTo>
                  <a:lnTo>
                    <a:pt x="821186" y="238125"/>
                  </a:lnTo>
                  <a:lnTo>
                    <a:pt x="821186" y="655540"/>
                  </a:lnTo>
                  <a:lnTo>
                    <a:pt x="583061" y="893665"/>
                  </a:lnTo>
                  <a:lnTo>
                    <a:pt x="238125" y="893665"/>
                  </a:lnTo>
                  <a:lnTo>
                    <a:pt x="0" y="655540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83061" y="0"/>
                  </a:lnTo>
                  <a:close/>
                </a:path>
              </a:pathLst>
            </a:custGeom>
            <a:solidFill>
              <a:srgbClr val="002C66">
                <a:alpha val="88627"/>
              </a:srgbClr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500" y="-60325"/>
              <a:ext cx="694186" cy="890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 rot="5400000">
            <a:off x="2213773" y="4396235"/>
            <a:ext cx="1344653" cy="1373018"/>
            <a:chOff x="0" y="0"/>
            <a:chExt cx="1064189" cy="108663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64189" cy="1086638"/>
            </a:xfrm>
            <a:custGeom>
              <a:avLst/>
              <a:gdLst/>
              <a:ahLst/>
              <a:cxnLst/>
              <a:rect l="l" t="t" r="r" b="b"/>
              <a:pathLst>
                <a:path w="1064189" h="1086638">
                  <a:moveTo>
                    <a:pt x="826064" y="0"/>
                  </a:moveTo>
                  <a:lnTo>
                    <a:pt x="1064189" y="238125"/>
                  </a:lnTo>
                  <a:lnTo>
                    <a:pt x="1064189" y="848513"/>
                  </a:lnTo>
                  <a:lnTo>
                    <a:pt x="826064" y="1086638"/>
                  </a:lnTo>
                  <a:lnTo>
                    <a:pt x="238125" y="1086638"/>
                  </a:lnTo>
                  <a:lnTo>
                    <a:pt x="0" y="848513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826064" y="0"/>
                  </a:ln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500" y="-60325"/>
              <a:ext cx="937189" cy="1083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 rot="5400000">
            <a:off x="7662073" y="2154953"/>
            <a:ext cx="1344653" cy="1373018"/>
            <a:chOff x="0" y="0"/>
            <a:chExt cx="1064189" cy="108663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64189" cy="1086638"/>
            </a:xfrm>
            <a:custGeom>
              <a:avLst/>
              <a:gdLst/>
              <a:ahLst/>
              <a:cxnLst/>
              <a:rect l="l" t="t" r="r" b="b"/>
              <a:pathLst>
                <a:path w="1064189" h="1086638">
                  <a:moveTo>
                    <a:pt x="826064" y="0"/>
                  </a:moveTo>
                  <a:lnTo>
                    <a:pt x="1064189" y="238125"/>
                  </a:lnTo>
                  <a:lnTo>
                    <a:pt x="1064189" y="848513"/>
                  </a:lnTo>
                  <a:lnTo>
                    <a:pt x="826064" y="1086638"/>
                  </a:lnTo>
                  <a:lnTo>
                    <a:pt x="238125" y="1086638"/>
                  </a:lnTo>
                  <a:lnTo>
                    <a:pt x="0" y="848513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826064" y="0"/>
                  </a:lnTo>
                  <a:close/>
                </a:path>
              </a:pathLst>
            </a:custGeom>
            <a:solidFill>
              <a:srgbClr val="03459D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500" y="-60325"/>
              <a:ext cx="937189" cy="1083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 rot="5400000">
            <a:off x="13321655" y="1759195"/>
            <a:ext cx="1344653" cy="1373018"/>
            <a:chOff x="0" y="0"/>
            <a:chExt cx="1064189" cy="108663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64189" cy="1086638"/>
            </a:xfrm>
            <a:custGeom>
              <a:avLst/>
              <a:gdLst/>
              <a:ahLst/>
              <a:cxnLst/>
              <a:rect l="l" t="t" r="r" b="b"/>
              <a:pathLst>
                <a:path w="1064189" h="1086638">
                  <a:moveTo>
                    <a:pt x="826064" y="0"/>
                  </a:moveTo>
                  <a:lnTo>
                    <a:pt x="1064189" y="238125"/>
                  </a:lnTo>
                  <a:lnTo>
                    <a:pt x="1064189" y="848513"/>
                  </a:lnTo>
                  <a:lnTo>
                    <a:pt x="826064" y="1086638"/>
                  </a:lnTo>
                  <a:lnTo>
                    <a:pt x="238125" y="1086638"/>
                  </a:lnTo>
                  <a:lnTo>
                    <a:pt x="0" y="848513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826064" y="0"/>
                  </a:lnTo>
                  <a:close/>
                </a:path>
              </a:pathLst>
            </a:custGeom>
            <a:solidFill>
              <a:srgbClr val="002C66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500" y="-60325"/>
              <a:ext cx="937189" cy="1083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 rot="5400000">
            <a:off x="14171997" y="3617611"/>
            <a:ext cx="1896411" cy="1936416"/>
            <a:chOff x="0" y="0"/>
            <a:chExt cx="1064189" cy="108663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64189" cy="1086638"/>
            </a:xfrm>
            <a:custGeom>
              <a:avLst/>
              <a:gdLst/>
              <a:ahLst/>
              <a:cxnLst/>
              <a:rect l="l" t="t" r="r" b="b"/>
              <a:pathLst>
                <a:path w="1064189" h="1086638">
                  <a:moveTo>
                    <a:pt x="826064" y="0"/>
                  </a:moveTo>
                  <a:lnTo>
                    <a:pt x="1064189" y="238125"/>
                  </a:lnTo>
                  <a:lnTo>
                    <a:pt x="1064189" y="848513"/>
                  </a:lnTo>
                  <a:lnTo>
                    <a:pt x="826064" y="1086638"/>
                  </a:lnTo>
                  <a:lnTo>
                    <a:pt x="238125" y="1086638"/>
                  </a:lnTo>
                  <a:lnTo>
                    <a:pt x="0" y="848513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826064" y="0"/>
                  </a:lnTo>
                  <a:close/>
                </a:path>
              </a:pathLst>
            </a:custGeom>
            <a:solidFill>
              <a:srgbClr val="03459D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500" y="-60325"/>
              <a:ext cx="937189" cy="1083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5297670" y="4506400"/>
            <a:ext cx="8090038" cy="14529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110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webextension1.xml><?xml version="1.0" encoding="utf-8"?>
<we:webextension xmlns:we="http://schemas.microsoft.com/office/webextensions/webextension/2010/11" id="{12BD3FA6-6721-4465-9359-66F4849A0406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6WVTWvcMBCG/0rxeSkz+laP7bWUQEouIYfRaBzceO3F9oakIf+90m4gl4QF9WJLo9Ezr6SR5qXLw3oY6fkX7aX71n2f54c9LQ9fsNt109nGJliEnhwBJpucFyNldD5swzyt3beXbqPlXrabYT3SWEHFeHu362gcr+i+9noaV9l1B1nWeaJx+Ctn5zK0LUd53XXydBjnhSryeqNNKvaxuJd+kYBfdYlIvA2Pci28na0+hRgl9hpJM7ENDFzc1rPDSdmHLhV9Cv9jnjYaphKm2lTuM7MHiU4DFM/sbbWvw3Q/vgl+n/v7+VA3Z9iXFdbdSH9K2Mp5fS3LCQSxl773pGx2mD1laGVFZMUJlJPglPOoPEkryyvPxkmfPGrMyXptuJWVg0kxoM3ZS9GE2SjTyqKcwTkFADqDFqsS+VYW2pRitNYSECsQk1KzLpNKEoB2FhIAZpuxnQU9AjKSYx+wHIIDVM1rdEZr1IE8Oi1gydvmXEXneoUs1qAVx6QRLufEJk9bmp8+yHwJAt6EpC0hGCWgY6syq3OMwErQgWZb0k1dzvxPlbHxvZSXzJanQDGk5MN/0ACrJBbPLmZhgCjUTlPJKtebaEM5z0AckrucG5/SjOvrw0cOfAQDMTvbfJtc1i4Fy5rBRW85KWxmxbJA56OyiCpYYJNVc244Z7ncpx4SlqspkjiH1h07Ad8t3V5KPauN+bitB2K5oqn0b1+6wzKXIrYNcvIrRYumLPmtvdT/z2GT5Rz6hsZjjXqqft0pSFEzpFEuTKg1sTvJuquff1PPwIalBwAA&quot;"/>
    <we:property name="creatorSessionId" value="&quot;437263ec-115b-4b1e-9d92-d5d20bfd4193&quot;"/>
    <we:property name="creatorTenantId" value="&quot;77255288-5298-4ea5-81aa-a13e604c30ac&quot;"/>
    <we:property name="creatorUserId" value="&quot;100320053ABB8047&quot;"/>
    <we:property name="datasetId" value="&quot;06486a2d-3ca7-435f-9107-43cff484d63a&quot;"/>
    <we:property name="embedUrl" value="&quot;/reportEmbed?reportId=968cc6b9-2863-4028-bc1c-8026a357d191&amp;config=eyJjbHVzdGVyVXJsIjoiaHR0cHM6Ly9XQUJJLU5PUlRILUVVUk9QRS1PLVBSSU1BUlktcmVkaXJlY3QuYW5hbHlzaXMud2luZG93cy5uZXQiLCJlbWJlZEZlYXR1cmVzIjp7InVzYWdlTWV0cmljc1ZOZXh0Ijp0cnVlfX0%3D&amp;disableSensitivityBanner=true&amp;storytellingChangeViewModeShortcutKeys=true&quot;"/>
    <we:property name="initialStateBookmark" value="&quot;H4sIAAAAAAAAA6VVTW/bMAz9K4PPwUDqW7t1w05dP7AOvRTFQFF04dWJA9sp2hX975OSAr20COBdbImm3nukSPO5yd207enpnNbSfGm+DsP9msb7T9isms2r7eLi9Ozk5+nv85Oz78U8bOdu2EzNl+dmpvFO5utu2lFfEYrx5nbVUN9f0l3dtdRPsmq2Mk7Dhvrurxycy6d53MnLqpHHbT+MVCGvZpqlwj4U97Iv3PhZF0biuXuQK+H5YPUpxCix1UiaiW1g4OI2HRz2yt51qdB7+m/DZqZuU2iqTeU2M3uQ6DRA8czeVvvUbe76V8FvZ389bWtWunWJsGYj/Sm0FeflpYQTCGIrbetJ2ewwe8qwFCsiK06gnASnnEflSZZieeXZOGmTR405Wa8NL8XKwaQY0ObspWjCbJRZikU5g3MKAHQGLVYl8kux0KYUo7WWgFiBmJQW6zKpFAFoZyEBYLYZl2NBi4CM5NgHLJfgANXiGJ3RGnUgj04LWPJ2ca2ic61CFmvQimPSCMdrYpbHOQ2P71S+BAFvQtKWEIwS0HGpMqtzjMBK0IFmW8pNHa/8D5Wx8a1YLMnSpaEgJR/+Aw2wSmLx7GIWBohCy9FUssq1JtpQ7jMQh+SO18aHaMa19cdHDnwEAzE7u7ibXNYuBcuawUVvOSlcjBVLgM5HZRFVsMAmq8W14Zzl0k8tJCytKZI4h6UZ2wO+WZq1lHlWF8NunrbEckmbsr95brbjUIbY3Mnerwwt2mTJr+uxvn90s4wH6mvqd5V1P/2aPUlR06VejhyoM7HZy7qtj39IeRmtngcAAA==&quot;"/>
    <we:property name="isFiltersActionButtonVisible" value="true"/>
    <we:property name="isVisualContainerHeaderHidden" value="false"/>
    <we:property name="pageDisplayName" value="&quot;Home&quot;"/>
    <we:property name="pageName" value="&quot;7b899e9f31a3cac58c0c&quot;"/>
    <we:property name="reportEmbeddedTime" value="&quot;2026-06-17T08:53:40.593Z&quot;"/>
    <we:property name="reportName" value="&quot;Depi_Grad 4.5&quot;"/>
    <we:property name="reportState" value="&quot;CONNECTED&quot;"/>
    <we:property name="reportUrl" value="&quot;/groups/me/reports/968cc6b9-2863-4028-bc1c-8026a357d191/7b899e9f31a3cac58c0c?bookmarkGuid=eb3c3190-d4e7-44bc-bc34-0b90fa08c88c&amp;bookmarkUsage=1&amp;ctid=77255288-5298-4ea5-81aa-a13e604c30ac&amp;fromEntryPoint=export&amp;pbi_source=storytelling_addin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1879</TotalTime>
  <Words>974</Words>
  <Application>Microsoft Office PowerPoint</Application>
  <PresentationFormat>Custom</PresentationFormat>
  <Paragraphs>116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Poppins Semi-Bold</vt:lpstr>
      <vt:lpstr>Calibri</vt:lpstr>
      <vt:lpstr>Roboto Condensed</vt:lpstr>
      <vt:lpstr>Poppins Bold</vt:lpstr>
      <vt:lpstr>Poppins Ultra-Bold Italics</vt:lpstr>
      <vt:lpstr>Poppins</vt:lpstr>
      <vt:lpstr>Roboto Condensed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Mapping Real Estate in Egypt</dc:title>
  <dc:creator>Eng.Ahmed</dc:creator>
  <cp:lastModifiedBy>احمد وائل محمد صفى الدين عبدالقوى</cp:lastModifiedBy>
  <cp:revision>19</cp:revision>
  <dcterms:created xsi:type="dcterms:W3CDTF">2006-08-16T00:00:00Z</dcterms:created>
  <dcterms:modified xsi:type="dcterms:W3CDTF">2026-06-19T12:33:22Z</dcterms:modified>
  <dc:identifier>DAHFoJw5iOc</dc:identifier>
</cp:coreProperties>
</file>