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20"/>
    <p:sldId id="280" r:id="rId21"/>
  </p:sldIdLst>
  <p:sldSz cx="18288000" cy="10287000"/>
  <p:notesSz cx="6858000" cy="9144000"/>
  <p:embeddedFontLst>
    <p:embeddedFont>
      <p:font typeface="Poppins" panose="00000500000000000000" pitchFamily="2" charset="0"/>
      <p:regular r:id="rId22"/>
    </p:embeddedFont>
    <p:embeddedFont>
      <p:font typeface="Poppins Bold" panose="020B0604020202020204" charset="0"/>
      <p:regular r:id="rId23"/>
    </p:embeddedFont>
    <p:embeddedFont>
      <p:font typeface="Poppins Semi-Bold" panose="020B0604020202020204" charset="0"/>
      <p:regular r:id="rId24"/>
    </p:embeddedFont>
    <p:embeddedFont>
      <p:font typeface="Poppins Ultra-Bold Italics" panose="020B0604020202020204" charset="0"/>
      <p:regular r:id="rId25"/>
    </p:embeddedFont>
    <p:embeddedFont>
      <p:font typeface="Roboto Condensed" panose="02000000000000000000" pitchFamily="2" charset="0"/>
      <p:regular r:id="rId26"/>
    </p:embeddedFont>
    <p:embeddedFont>
      <p:font typeface="Roboto Condensed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22" autoAdjust="0"/>
  </p:normalViewPr>
  <p:slideViewPr>
    <p:cSldViewPr>
      <p:cViewPr varScale="1">
        <p:scale>
          <a:sx n="74" d="100"/>
          <a:sy n="74" d="100"/>
        </p:scale>
        <p:origin x="57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8478" b="-68478"/>
            </a:stretch>
          </a:blipFill>
        </p:spPr>
        <p:txBody>
          <a:bodyPr/>
          <a:lstStyle/>
          <a:p>
            <a:endParaRPr lang="ar-EG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7780228" y="8966518"/>
            <a:ext cx="6673203" cy="3915648"/>
            <a:chOff x="0" y="0"/>
            <a:chExt cx="822466" cy="482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22466" cy="482600"/>
            </a:xfrm>
            <a:custGeom>
              <a:avLst/>
              <a:gdLst/>
              <a:ahLst/>
              <a:cxnLst/>
              <a:rect l="l" t="t" r="r" b="b"/>
              <a:pathLst>
                <a:path w="822466" h="482600">
                  <a:moveTo>
                    <a:pt x="584341" y="0"/>
                  </a:moveTo>
                  <a:lnTo>
                    <a:pt x="822466" y="238125"/>
                  </a:lnTo>
                  <a:lnTo>
                    <a:pt x="822466" y="244475"/>
                  </a:lnTo>
                  <a:lnTo>
                    <a:pt x="584341" y="482600"/>
                  </a:lnTo>
                  <a:lnTo>
                    <a:pt x="238125" y="482600"/>
                  </a:lnTo>
                  <a:lnTo>
                    <a:pt x="0" y="2444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434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3500" y="-60325"/>
              <a:ext cx="695466" cy="479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175395" y="9457892"/>
            <a:ext cx="7047151" cy="2342350"/>
            <a:chOff x="0" y="0"/>
            <a:chExt cx="2038200" cy="67746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38200" cy="677462"/>
            </a:xfrm>
            <a:custGeom>
              <a:avLst/>
              <a:gdLst/>
              <a:ahLst/>
              <a:cxnLst/>
              <a:rect l="l" t="t" r="r" b="b"/>
              <a:pathLst>
                <a:path w="2038200" h="677462">
                  <a:moveTo>
                    <a:pt x="1800075" y="0"/>
                  </a:moveTo>
                  <a:lnTo>
                    <a:pt x="2038200" y="238125"/>
                  </a:lnTo>
                  <a:lnTo>
                    <a:pt x="2038200" y="439337"/>
                  </a:lnTo>
                  <a:lnTo>
                    <a:pt x="1800075" y="677462"/>
                  </a:lnTo>
                  <a:lnTo>
                    <a:pt x="238125" y="677462"/>
                  </a:lnTo>
                  <a:lnTo>
                    <a:pt x="0" y="439337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800075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3500" y="-60325"/>
              <a:ext cx="1911200" cy="674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7419730" y="5019675"/>
            <a:ext cx="3226165" cy="5374534"/>
            <a:chOff x="0" y="0"/>
            <a:chExt cx="812800" cy="135406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1354060"/>
            </a:xfrm>
            <a:custGeom>
              <a:avLst/>
              <a:gdLst/>
              <a:ahLst/>
              <a:cxnLst/>
              <a:rect l="l" t="t" r="r" b="b"/>
              <a:pathLst>
                <a:path w="812800" h="135406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1115935"/>
                  </a:lnTo>
                  <a:lnTo>
                    <a:pt x="574675" y="1354060"/>
                  </a:lnTo>
                  <a:lnTo>
                    <a:pt x="238125" y="1354060"/>
                  </a:lnTo>
                  <a:lnTo>
                    <a:pt x="0" y="111593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00" y="-60325"/>
              <a:ext cx="685800" cy="13508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5400000">
            <a:off x="-1967953" y="-5540742"/>
            <a:ext cx="9844576" cy="10206712"/>
            <a:chOff x="0" y="0"/>
            <a:chExt cx="1132415" cy="117407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32415" cy="1174071"/>
            </a:xfrm>
            <a:custGeom>
              <a:avLst/>
              <a:gdLst/>
              <a:ahLst/>
              <a:cxnLst/>
              <a:rect l="l" t="t" r="r" b="b"/>
              <a:pathLst>
                <a:path w="1132415" h="1174071">
                  <a:moveTo>
                    <a:pt x="894290" y="0"/>
                  </a:moveTo>
                  <a:lnTo>
                    <a:pt x="1132415" y="238125"/>
                  </a:lnTo>
                  <a:lnTo>
                    <a:pt x="1132415" y="935946"/>
                  </a:lnTo>
                  <a:lnTo>
                    <a:pt x="894290" y="1174071"/>
                  </a:lnTo>
                  <a:lnTo>
                    <a:pt x="238125" y="1174071"/>
                  </a:lnTo>
                  <a:lnTo>
                    <a:pt x="0" y="935946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9429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500" y="-60325"/>
              <a:ext cx="1005415" cy="1170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6276181" y="-6456949"/>
            <a:ext cx="7122767" cy="12039127"/>
            <a:chOff x="0" y="0"/>
            <a:chExt cx="482600" cy="81570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82600" cy="815706"/>
            </a:xfrm>
            <a:custGeom>
              <a:avLst/>
              <a:gdLst/>
              <a:ahLst/>
              <a:cxnLst/>
              <a:rect l="l" t="t" r="r" b="b"/>
              <a:pathLst>
                <a:path w="482600" h="815706">
                  <a:moveTo>
                    <a:pt x="244475" y="0"/>
                  </a:moveTo>
                  <a:lnTo>
                    <a:pt x="482600" y="238125"/>
                  </a:lnTo>
                  <a:lnTo>
                    <a:pt x="482600" y="577581"/>
                  </a:lnTo>
                  <a:lnTo>
                    <a:pt x="244475" y="815706"/>
                  </a:lnTo>
                  <a:lnTo>
                    <a:pt x="238125" y="815706"/>
                  </a:lnTo>
                  <a:lnTo>
                    <a:pt x="0" y="577581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44475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500" y="-60325"/>
              <a:ext cx="355600" cy="812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2000717" y="8339317"/>
            <a:ext cx="1309923" cy="1309923"/>
          </a:xfrm>
          <a:custGeom>
            <a:avLst/>
            <a:gdLst/>
            <a:ahLst/>
            <a:cxnLst/>
            <a:rect l="l" t="t" r="r" b="b"/>
            <a:pathLst>
              <a:path w="1309923" h="1309923">
                <a:moveTo>
                  <a:pt x="0" y="0"/>
                </a:moveTo>
                <a:lnTo>
                  <a:pt x="1309923" y="0"/>
                </a:lnTo>
                <a:lnTo>
                  <a:pt x="1309923" y="1309923"/>
                </a:lnTo>
                <a:lnTo>
                  <a:pt x="0" y="13099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5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9" name="Freeform 19"/>
          <p:cNvSpPr/>
          <p:nvPr/>
        </p:nvSpPr>
        <p:spPr>
          <a:xfrm>
            <a:off x="469626" y="8339317"/>
            <a:ext cx="1315771" cy="1309923"/>
          </a:xfrm>
          <a:custGeom>
            <a:avLst/>
            <a:gdLst/>
            <a:ahLst/>
            <a:cxnLst/>
            <a:rect l="l" t="t" r="r" b="b"/>
            <a:pathLst>
              <a:path w="1315771" h="1309923">
                <a:moveTo>
                  <a:pt x="0" y="0"/>
                </a:moveTo>
                <a:lnTo>
                  <a:pt x="1315771" y="0"/>
                </a:lnTo>
                <a:lnTo>
                  <a:pt x="1315771" y="1309923"/>
                </a:lnTo>
                <a:lnTo>
                  <a:pt x="0" y="13099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5000"/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grpSp>
        <p:nvGrpSpPr>
          <p:cNvPr id="20" name="Group 20"/>
          <p:cNvGrpSpPr/>
          <p:nvPr/>
        </p:nvGrpSpPr>
        <p:grpSpPr>
          <a:xfrm>
            <a:off x="16365897" y="8339317"/>
            <a:ext cx="1600458" cy="160045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104775" cap="sq">
              <a:solidFill>
                <a:srgbClr val="486598"/>
              </a:solidFill>
              <a:prstDash val="solid"/>
              <a:miter/>
            </a:ln>
          </p:spPr>
          <p:txBody>
            <a:bodyPr/>
            <a:lstStyle/>
            <a:p>
              <a:endParaRPr lang="ar-EG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69626" y="2958992"/>
            <a:ext cx="5169174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r>
              <a:rPr lang="en-US" sz="3000" b="1" spc="465" dirty="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DEPI GRAD PROJECT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9626" y="514088"/>
            <a:ext cx="12947003" cy="227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400"/>
              </a:lnSpc>
            </a:pPr>
            <a:r>
              <a:rPr lang="en-US" sz="8400" b="1" i="1">
                <a:solidFill>
                  <a:srgbClr val="FFFFFF"/>
                </a:solidFill>
                <a:latin typeface="Poppins Ultra-Bold Italics"/>
                <a:ea typeface="Poppins Ultra-Bold Italics"/>
                <a:cs typeface="Poppins Ultra-Bold Italics"/>
                <a:sym typeface="Poppins Ultra-Bold Italics"/>
              </a:rPr>
              <a:t>Mapping Real Estate in Egypt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20819" y="9563515"/>
            <a:ext cx="6014382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465" dirty="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TEAM 3: DATA WIZARDS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748549" y="-4102235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6892049" y="-4483235"/>
            <a:ext cx="2315586" cy="7946284"/>
            <a:chOff x="0" y="0"/>
            <a:chExt cx="583389" cy="20019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1696548" y="8604854"/>
            <a:ext cx="3485205" cy="3769762"/>
            <a:chOff x="0" y="0"/>
            <a:chExt cx="871356" cy="942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71356" cy="942500"/>
            </a:xfrm>
            <a:custGeom>
              <a:avLst/>
              <a:gdLst/>
              <a:ahLst/>
              <a:cxnLst/>
              <a:rect l="l" t="t" r="r" b="b"/>
              <a:pathLst>
                <a:path w="871356" h="942500">
                  <a:moveTo>
                    <a:pt x="633231" y="0"/>
                  </a:moveTo>
                  <a:lnTo>
                    <a:pt x="871356" y="238125"/>
                  </a:lnTo>
                  <a:lnTo>
                    <a:pt x="871356" y="704375"/>
                  </a:lnTo>
                  <a:lnTo>
                    <a:pt x="63323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3323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74435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1898321" y="9273710"/>
            <a:ext cx="4920624" cy="4144413"/>
            <a:chOff x="0" y="0"/>
            <a:chExt cx="1119021" cy="9425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9021" cy="942500"/>
            </a:xfrm>
            <a:custGeom>
              <a:avLst/>
              <a:gdLst/>
              <a:ahLst/>
              <a:cxnLst/>
              <a:rect l="l" t="t" r="r" b="b"/>
              <a:pathLst>
                <a:path w="1119021" h="942500">
                  <a:moveTo>
                    <a:pt x="880896" y="0"/>
                  </a:moveTo>
                  <a:lnTo>
                    <a:pt x="1119021" y="238125"/>
                  </a:lnTo>
                  <a:lnTo>
                    <a:pt x="1119021" y="704375"/>
                  </a:lnTo>
                  <a:lnTo>
                    <a:pt x="880896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80896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992021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10800000">
            <a:off x="4124325" y="9461035"/>
            <a:ext cx="3485205" cy="3769762"/>
            <a:chOff x="0" y="0"/>
            <a:chExt cx="871356" cy="9425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71356" cy="942500"/>
            </a:xfrm>
            <a:custGeom>
              <a:avLst/>
              <a:gdLst/>
              <a:ahLst/>
              <a:cxnLst/>
              <a:rect l="l" t="t" r="r" b="b"/>
              <a:pathLst>
                <a:path w="871356" h="942500">
                  <a:moveTo>
                    <a:pt x="633231" y="0"/>
                  </a:moveTo>
                  <a:lnTo>
                    <a:pt x="871356" y="238125"/>
                  </a:lnTo>
                  <a:lnTo>
                    <a:pt x="871356" y="704375"/>
                  </a:lnTo>
                  <a:lnTo>
                    <a:pt x="63323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3323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00" y="-60325"/>
              <a:ext cx="74435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8371040" y="6478608"/>
            <a:ext cx="2779703" cy="2779692"/>
            <a:chOff x="0" y="0"/>
            <a:chExt cx="6350000" cy="634997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18103" t="-24310" r="-21465" b="-15258"/>
              </a:stretch>
            </a:blipFill>
          </p:spPr>
          <p:txBody>
            <a:bodyPr/>
            <a:lstStyle/>
            <a:p>
              <a:endParaRPr lang="ar-EG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1154783" y="3918363"/>
            <a:ext cx="3422100" cy="3575839"/>
            <a:chOff x="0" y="0"/>
            <a:chExt cx="4562799" cy="4767786"/>
          </a:xfrm>
        </p:grpSpPr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312461" y="0"/>
              <a:ext cx="3937878" cy="3937862"/>
              <a:chOff x="0" y="0"/>
              <a:chExt cx="6350000" cy="63499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3523" t="-31315" r="-17791"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0" y="3259492"/>
              <a:ext cx="4562799" cy="821647"/>
              <a:chOff x="0" y="0"/>
              <a:chExt cx="901294" cy="162301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295890" y="3371653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Ahmed Wael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4201577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Leader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049842" y="8830716"/>
            <a:ext cx="3422100" cy="1131221"/>
            <a:chOff x="0" y="0"/>
            <a:chExt cx="4562799" cy="150829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4562799" cy="821647"/>
              <a:chOff x="0" y="0"/>
              <a:chExt cx="901294" cy="16230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0" y="942085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5890" y="94381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Nourhan Safwat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4277513" y="1028700"/>
            <a:ext cx="3422100" cy="3468382"/>
            <a:chOff x="0" y="0"/>
            <a:chExt cx="4562799" cy="4624509"/>
          </a:xfrm>
        </p:grpSpPr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0" y="3116215"/>
              <a:ext cx="4562799" cy="821647"/>
              <a:chOff x="0" y="0"/>
              <a:chExt cx="901294" cy="16230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256481" y="3228377"/>
              <a:ext cx="4049838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Sara Ashraf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4058300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277513" y="6493555"/>
            <a:ext cx="3422100" cy="3468382"/>
            <a:chOff x="0" y="0"/>
            <a:chExt cx="4562799" cy="4624509"/>
          </a:xfrm>
        </p:grpSpPr>
        <p:grpSp>
          <p:nvGrpSpPr>
            <p:cNvPr id="42" name="Group 42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0" y="3116215"/>
              <a:ext cx="4562799" cy="821647"/>
              <a:chOff x="0" y="0"/>
              <a:chExt cx="901294" cy="16230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256481" y="3228377"/>
              <a:ext cx="4049838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Marwa Ebrahim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4058300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049842" y="1202404"/>
            <a:ext cx="3422100" cy="3294678"/>
            <a:chOff x="0" y="0"/>
            <a:chExt cx="4562799" cy="4392904"/>
          </a:xfrm>
        </p:grpSpPr>
        <p:grpSp>
          <p:nvGrpSpPr>
            <p:cNvPr id="50" name="Group 50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 t="-36190" b="-41588"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0" y="2884609"/>
              <a:ext cx="4562799" cy="821647"/>
              <a:chOff x="0" y="0"/>
              <a:chExt cx="901294" cy="16230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295890" y="2996771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Furqan Sarhan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3826695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1028700" y="3953172"/>
            <a:ext cx="5524500" cy="1265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60"/>
              </a:lnSpc>
            </a:pPr>
            <a:r>
              <a:rPr lang="en-US" sz="74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3976" y="1224280"/>
            <a:ext cx="3422100" cy="616235"/>
            <a:chOff x="0" y="0"/>
            <a:chExt cx="901294" cy="1623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4039677" y="1279668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Project Overview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2317554" y="2222569"/>
            <a:ext cx="4161765" cy="616235"/>
            <a:chOff x="0" y="0"/>
            <a:chExt cx="1096103" cy="16230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96103" cy="162301"/>
            </a:xfrm>
            <a:custGeom>
              <a:avLst/>
              <a:gdLst/>
              <a:ahLst/>
              <a:cxnLst/>
              <a:rect l="l" t="t" r="r" b="b"/>
              <a:pathLst>
                <a:path w="1096103" h="162301">
                  <a:moveTo>
                    <a:pt x="81150" y="0"/>
                  </a:moveTo>
                  <a:lnTo>
                    <a:pt x="1014952" y="0"/>
                  </a:lnTo>
                  <a:cubicBezTo>
                    <a:pt x="1059771" y="0"/>
                    <a:pt x="1096103" y="36332"/>
                    <a:pt x="1096103" y="81150"/>
                  </a:cubicBezTo>
                  <a:lnTo>
                    <a:pt x="1096103" y="81150"/>
                  </a:lnTo>
                  <a:cubicBezTo>
                    <a:pt x="1096103" y="125968"/>
                    <a:pt x="1059771" y="162301"/>
                    <a:pt x="1014952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23825"/>
              <a:ext cx="1096103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783088" y="2277957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Sources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604629" y="4602758"/>
            <a:ext cx="3422100" cy="616235"/>
            <a:chOff x="0" y="0"/>
            <a:chExt cx="901294" cy="1623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702205" y="5864287"/>
            <a:ext cx="3422100" cy="616235"/>
            <a:chOff x="0" y="0"/>
            <a:chExt cx="901294" cy="16230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977300" y="7030484"/>
            <a:ext cx="3422100" cy="616235"/>
            <a:chOff x="0" y="0"/>
            <a:chExt cx="901294" cy="16230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848274" y="9319707"/>
            <a:ext cx="3422100" cy="565105"/>
            <a:chOff x="0" y="0"/>
            <a:chExt cx="901294" cy="14883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01294" cy="148834"/>
            </a:xfrm>
            <a:custGeom>
              <a:avLst/>
              <a:gdLst/>
              <a:ahLst/>
              <a:cxnLst/>
              <a:rect l="l" t="t" r="r" b="b"/>
              <a:pathLst>
                <a:path w="901294" h="148834">
                  <a:moveTo>
                    <a:pt x="74417" y="0"/>
                  </a:moveTo>
                  <a:lnTo>
                    <a:pt x="826877" y="0"/>
                  </a:lnTo>
                  <a:cubicBezTo>
                    <a:pt x="846613" y="0"/>
                    <a:pt x="865542" y="7840"/>
                    <a:pt x="879497" y="21796"/>
                  </a:cubicBezTo>
                  <a:cubicBezTo>
                    <a:pt x="893453" y="35752"/>
                    <a:pt x="901294" y="54680"/>
                    <a:pt x="901294" y="74417"/>
                  </a:cubicBezTo>
                  <a:lnTo>
                    <a:pt x="901294" y="74417"/>
                  </a:lnTo>
                  <a:cubicBezTo>
                    <a:pt x="901294" y="94154"/>
                    <a:pt x="893453" y="113082"/>
                    <a:pt x="879497" y="127038"/>
                  </a:cubicBezTo>
                  <a:cubicBezTo>
                    <a:pt x="865542" y="140994"/>
                    <a:pt x="846613" y="148834"/>
                    <a:pt x="826877" y="148834"/>
                  </a:cubicBezTo>
                  <a:lnTo>
                    <a:pt x="74417" y="148834"/>
                  </a:lnTo>
                  <a:cubicBezTo>
                    <a:pt x="54680" y="148834"/>
                    <a:pt x="35752" y="140994"/>
                    <a:pt x="21796" y="127038"/>
                  </a:cubicBezTo>
                  <a:cubicBezTo>
                    <a:pt x="7840" y="113082"/>
                    <a:pt x="0" y="94154"/>
                    <a:pt x="0" y="74417"/>
                  </a:cubicBezTo>
                  <a:lnTo>
                    <a:pt x="0" y="74417"/>
                  </a:lnTo>
                  <a:cubicBezTo>
                    <a:pt x="0" y="54680"/>
                    <a:pt x="7840" y="35752"/>
                    <a:pt x="21796" y="21796"/>
                  </a:cubicBezTo>
                  <a:cubicBezTo>
                    <a:pt x="35752" y="7840"/>
                    <a:pt x="54680" y="0"/>
                    <a:pt x="74417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23825"/>
              <a:ext cx="901294" cy="2726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797907" y="3304747"/>
            <a:ext cx="3422100" cy="616235"/>
            <a:chOff x="0" y="0"/>
            <a:chExt cx="901294" cy="16230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0893609" y="3389407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Problem Statement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645550" y="4696550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Objectives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797907" y="5919675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Project Workflow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073001" y="7090243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Cleaning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43976" y="9349064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Reporting</a:t>
            </a:r>
          </a:p>
        </p:txBody>
      </p:sp>
      <p:grpSp>
        <p:nvGrpSpPr>
          <p:cNvPr id="30" name="Group 30"/>
          <p:cNvGrpSpPr/>
          <p:nvPr/>
        </p:nvGrpSpPr>
        <p:grpSpPr>
          <a:xfrm rot="5400000">
            <a:off x="1312974" y="-3666659"/>
            <a:ext cx="2315586" cy="7075133"/>
            <a:chOff x="0" y="0"/>
            <a:chExt cx="583389" cy="178250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83389" cy="1782509"/>
            </a:xfrm>
            <a:custGeom>
              <a:avLst/>
              <a:gdLst/>
              <a:ahLst/>
              <a:cxnLst/>
              <a:rect l="l" t="t" r="r" b="b"/>
              <a:pathLst>
                <a:path w="583389" h="1782509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544384"/>
                  </a:lnTo>
                  <a:lnTo>
                    <a:pt x="345264" y="1782509"/>
                  </a:lnTo>
                  <a:lnTo>
                    <a:pt x="238125" y="1782509"/>
                  </a:lnTo>
                  <a:lnTo>
                    <a:pt x="0" y="1544384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500" y="-60325"/>
              <a:ext cx="456389" cy="17793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 rot="5400000">
            <a:off x="1312974" y="6939934"/>
            <a:ext cx="2315586" cy="7075133"/>
            <a:chOff x="0" y="0"/>
            <a:chExt cx="583389" cy="178250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83389" cy="1782509"/>
            </a:xfrm>
            <a:custGeom>
              <a:avLst/>
              <a:gdLst/>
              <a:ahLst/>
              <a:cxnLst/>
              <a:rect l="l" t="t" r="r" b="b"/>
              <a:pathLst>
                <a:path w="583389" h="1782509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544384"/>
                  </a:lnTo>
                  <a:lnTo>
                    <a:pt x="345264" y="1782509"/>
                  </a:lnTo>
                  <a:lnTo>
                    <a:pt x="238125" y="1782509"/>
                  </a:lnTo>
                  <a:lnTo>
                    <a:pt x="0" y="1544384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500" y="-60325"/>
              <a:ext cx="456389" cy="17793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 rot="5400000">
            <a:off x="6712258" y="-3912313"/>
            <a:ext cx="2315586" cy="6778571"/>
            <a:chOff x="0" y="0"/>
            <a:chExt cx="583389" cy="170779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83389" cy="1707793"/>
            </a:xfrm>
            <a:custGeom>
              <a:avLst/>
              <a:gdLst/>
              <a:ahLst/>
              <a:cxnLst/>
              <a:rect l="l" t="t" r="r" b="b"/>
              <a:pathLst>
                <a:path w="583389" h="1707793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469668"/>
                  </a:lnTo>
                  <a:lnTo>
                    <a:pt x="345264" y="1707793"/>
                  </a:lnTo>
                  <a:lnTo>
                    <a:pt x="238125" y="1707793"/>
                  </a:lnTo>
                  <a:lnTo>
                    <a:pt x="0" y="14696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00" y="-60325"/>
              <a:ext cx="456389" cy="1704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 rot="5400000">
            <a:off x="6857782" y="7593266"/>
            <a:ext cx="2315586" cy="6778571"/>
            <a:chOff x="0" y="0"/>
            <a:chExt cx="583389" cy="1707793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83389" cy="1707793"/>
            </a:xfrm>
            <a:custGeom>
              <a:avLst/>
              <a:gdLst/>
              <a:ahLst/>
              <a:cxnLst/>
              <a:rect l="l" t="t" r="r" b="b"/>
              <a:pathLst>
                <a:path w="583389" h="1707793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469668"/>
                  </a:lnTo>
                  <a:lnTo>
                    <a:pt x="345264" y="1707793"/>
                  </a:lnTo>
                  <a:lnTo>
                    <a:pt x="238125" y="1707793"/>
                  </a:lnTo>
                  <a:lnTo>
                    <a:pt x="0" y="14696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500" y="-60325"/>
              <a:ext cx="456389" cy="1704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 rot="5400000">
            <a:off x="17243866" y="3258619"/>
            <a:ext cx="2808393" cy="3769762"/>
            <a:chOff x="0" y="0"/>
            <a:chExt cx="702142" cy="9425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02142" cy="942500"/>
            </a:xfrm>
            <a:custGeom>
              <a:avLst/>
              <a:gdLst/>
              <a:ahLst/>
              <a:cxnLst/>
              <a:rect l="l" t="t" r="r" b="b"/>
              <a:pathLst>
                <a:path w="702142" h="942500">
                  <a:moveTo>
                    <a:pt x="464017" y="0"/>
                  </a:moveTo>
                  <a:lnTo>
                    <a:pt x="702142" y="238125"/>
                  </a:lnTo>
                  <a:lnTo>
                    <a:pt x="702142" y="704375"/>
                  </a:lnTo>
                  <a:lnTo>
                    <a:pt x="464017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464017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00" y="-60325"/>
              <a:ext cx="575142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 rot="5400000">
            <a:off x="16341463" y="3258619"/>
            <a:ext cx="5941131" cy="3769762"/>
            <a:chOff x="0" y="0"/>
            <a:chExt cx="1485376" cy="9425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85376" cy="942500"/>
            </a:xfrm>
            <a:custGeom>
              <a:avLst/>
              <a:gdLst/>
              <a:ahLst/>
              <a:cxnLst/>
              <a:rect l="l" t="t" r="r" b="b"/>
              <a:pathLst>
                <a:path w="1485376" h="942500">
                  <a:moveTo>
                    <a:pt x="1247251" y="0"/>
                  </a:moveTo>
                  <a:lnTo>
                    <a:pt x="1485376" y="238125"/>
                  </a:lnTo>
                  <a:lnTo>
                    <a:pt x="1485376" y="704375"/>
                  </a:lnTo>
                  <a:lnTo>
                    <a:pt x="124725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24725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500" y="-60325"/>
              <a:ext cx="135837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48" name="AutoShape 48"/>
          <p:cNvSpPr/>
          <p:nvPr/>
        </p:nvSpPr>
        <p:spPr>
          <a:xfrm>
            <a:off x="10606504" y="1532397"/>
            <a:ext cx="3433173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49" name="AutoShape 49"/>
          <p:cNvSpPr/>
          <p:nvPr/>
        </p:nvSpPr>
        <p:spPr>
          <a:xfrm flipV="1">
            <a:off x="7224304" y="1532397"/>
            <a:ext cx="3393273" cy="1385077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0" name="AutoShape 50"/>
          <p:cNvSpPr/>
          <p:nvPr/>
        </p:nvSpPr>
        <p:spPr>
          <a:xfrm>
            <a:off x="9928514" y="2530687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1" name="AutoShape 51"/>
          <p:cNvSpPr/>
          <p:nvPr/>
        </p:nvSpPr>
        <p:spPr>
          <a:xfrm flipV="1">
            <a:off x="7689508" y="2549737"/>
            <a:ext cx="2252948" cy="755011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2" name="AutoShape 52"/>
          <p:cNvSpPr/>
          <p:nvPr/>
        </p:nvSpPr>
        <p:spPr>
          <a:xfrm flipV="1">
            <a:off x="8139828" y="3612865"/>
            <a:ext cx="2658079" cy="429303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3" name="AutoShape 53"/>
          <p:cNvSpPr/>
          <p:nvPr/>
        </p:nvSpPr>
        <p:spPr>
          <a:xfrm flipV="1">
            <a:off x="8159512" y="4908470"/>
            <a:ext cx="2458066" cy="23503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4" name="AutoShape 54"/>
          <p:cNvSpPr/>
          <p:nvPr/>
        </p:nvSpPr>
        <p:spPr>
          <a:xfrm>
            <a:off x="7469370" y="6130406"/>
            <a:ext cx="3269956" cy="111548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5" name="AutoShape 55"/>
          <p:cNvSpPr/>
          <p:nvPr/>
        </p:nvSpPr>
        <p:spPr>
          <a:xfrm>
            <a:off x="9928514" y="7357651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6" name="AutoShape 56"/>
          <p:cNvSpPr/>
          <p:nvPr/>
        </p:nvSpPr>
        <p:spPr>
          <a:xfrm>
            <a:off x="7381734" y="6776129"/>
            <a:ext cx="2546779" cy="581522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7" name="AutoShape 57"/>
          <p:cNvSpPr/>
          <p:nvPr/>
        </p:nvSpPr>
        <p:spPr>
          <a:xfrm>
            <a:off x="10702205" y="9602260"/>
            <a:ext cx="3146069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8" name="AutoShape 58"/>
          <p:cNvSpPr/>
          <p:nvPr/>
        </p:nvSpPr>
        <p:spPr>
          <a:xfrm>
            <a:off x="7032637" y="7482038"/>
            <a:ext cx="3669569" cy="2120222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59" name="Group 59"/>
          <p:cNvGrpSpPr/>
          <p:nvPr/>
        </p:nvGrpSpPr>
        <p:grpSpPr>
          <a:xfrm>
            <a:off x="602392" y="2740165"/>
            <a:ext cx="7557120" cy="4806670"/>
            <a:chOff x="0" y="0"/>
            <a:chExt cx="10076160" cy="6408893"/>
          </a:xfrm>
        </p:grpSpPr>
        <p:grpSp>
          <p:nvGrpSpPr>
            <p:cNvPr id="60" name="Group 60"/>
            <p:cNvGrpSpPr/>
            <p:nvPr/>
          </p:nvGrpSpPr>
          <p:grpSpPr>
            <a:xfrm rot="5400000">
              <a:off x="1833633" y="-1833633"/>
              <a:ext cx="6408893" cy="10076160"/>
              <a:chOff x="0" y="0"/>
              <a:chExt cx="1212991" cy="1907082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212991" cy="1907082"/>
              </a:xfrm>
              <a:custGeom>
                <a:avLst/>
                <a:gdLst/>
                <a:ahLst/>
                <a:cxnLst/>
                <a:rect l="l" t="t" r="r" b="b"/>
                <a:pathLst>
                  <a:path w="1212991" h="1907082">
                    <a:moveTo>
                      <a:pt x="974866" y="0"/>
                    </a:moveTo>
                    <a:lnTo>
                      <a:pt x="1212991" y="238125"/>
                    </a:lnTo>
                    <a:lnTo>
                      <a:pt x="1212991" y="1668957"/>
                    </a:lnTo>
                    <a:lnTo>
                      <a:pt x="974866" y="1907082"/>
                    </a:lnTo>
                    <a:lnTo>
                      <a:pt x="238125" y="1907082"/>
                    </a:lnTo>
                    <a:lnTo>
                      <a:pt x="0" y="1668957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974866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63500" y="-60325"/>
                <a:ext cx="1085991" cy="190390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63" name="TextBox 63"/>
            <p:cNvSpPr txBox="1"/>
            <p:nvPr/>
          </p:nvSpPr>
          <p:spPr>
            <a:xfrm>
              <a:off x="385947" y="1413747"/>
              <a:ext cx="9304265" cy="350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199"/>
                </a:lnSpc>
              </a:pPr>
              <a:r>
                <a:rPr lang="en-US" sz="8499" b="1" spc="-4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Table of Content</a:t>
              </a:r>
            </a:p>
          </p:txBody>
        </p:sp>
      </p:grpSp>
      <p:sp>
        <p:nvSpPr>
          <p:cNvPr id="64" name="AutoShape 64"/>
          <p:cNvSpPr/>
          <p:nvPr/>
        </p:nvSpPr>
        <p:spPr>
          <a:xfrm>
            <a:off x="7360696" y="7372007"/>
            <a:ext cx="3341509" cy="1092156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65" name="AutoShape 65"/>
          <p:cNvSpPr/>
          <p:nvPr/>
        </p:nvSpPr>
        <p:spPr>
          <a:xfrm>
            <a:off x="10702205" y="8464163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66" name="Group 66"/>
          <p:cNvGrpSpPr/>
          <p:nvPr/>
        </p:nvGrpSpPr>
        <p:grpSpPr>
          <a:xfrm>
            <a:off x="13057219" y="8156045"/>
            <a:ext cx="3422100" cy="616235"/>
            <a:chOff x="0" y="0"/>
            <a:chExt cx="901294" cy="162301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3152921" y="8215805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Modeling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3" name="Group 3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 rot="5400000">
            <a:off x="-1005041" y="2365719"/>
            <a:ext cx="2198673" cy="857039"/>
            <a:chOff x="0" y="0"/>
            <a:chExt cx="1824533" cy="711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462712" y="-1958903"/>
            <a:ext cx="17451121" cy="2825678"/>
            <a:chOff x="0" y="0"/>
            <a:chExt cx="23268161" cy="3767571"/>
          </a:xfrm>
        </p:grpSpPr>
        <p:grpSp>
          <p:nvGrpSpPr>
            <p:cNvPr id="16" name="Group 1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2" name="TextBox 22"/>
          <p:cNvSpPr txBox="1"/>
          <p:nvPr/>
        </p:nvSpPr>
        <p:spPr>
          <a:xfrm>
            <a:off x="1050188" y="4503176"/>
            <a:ext cx="7784892" cy="207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499" b="1" spc="7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Mapping Real Estate in Egypt</a:t>
            </a:r>
            <a:r>
              <a:rPr lang="en-US" sz="2499" spc="7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is a data-driven analysis project built to compare investment opportunities in the New Administrative Capital vs New Cairo.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0188" y="7191375"/>
            <a:ext cx="14374701" cy="155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9"/>
              </a:lnSpc>
              <a:spcBef>
                <a:spcPct val="0"/>
              </a:spcBef>
            </a:pPr>
            <a:r>
              <a:rPr lang="en-US" sz="2499" u="none" strike="noStrike" spc="7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It provides investors and developers with a clear dashboard to visualize price trends, infrastructure quality, and future growth potential, while considering economic factors like inflation and currency devaluation.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1884" y="2094952"/>
            <a:ext cx="7055644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 u="none" strike="noStrike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</a:p>
        </p:txBody>
      </p:sp>
      <p:sp>
        <p:nvSpPr>
          <p:cNvPr id="25" name="Freeform 25"/>
          <p:cNvSpPr/>
          <p:nvPr/>
        </p:nvSpPr>
        <p:spPr>
          <a:xfrm flipH="1">
            <a:off x="9358955" y="1095071"/>
            <a:ext cx="6131480" cy="5772618"/>
          </a:xfrm>
          <a:custGeom>
            <a:avLst/>
            <a:gdLst/>
            <a:ahLst/>
            <a:cxnLst/>
            <a:rect l="l" t="t" r="r" b="b"/>
            <a:pathLst>
              <a:path w="6131480" h="5772618">
                <a:moveTo>
                  <a:pt x="6131480" y="0"/>
                </a:moveTo>
                <a:lnTo>
                  <a:pt x="0" y="0"/>
                </a:lnTo>
                <a:lnTo>
                  <a:pt x="0" y="5772618"/>
                </a:lnTo>
                <a:lnTo>
                  <a:pt x="6131480" y="5772618"/>
                </a:lnTo>
                <a:lnTo>
                  <a:pt x="6131480" y="0"/>
                </a:lnTo>
                <a:close/>
              </a:path>
            </a:pathLst>
          </a:custGeom>
          <a:blipFill>
            <a:blip r:embed="rId2"/>
            <a:stretch>
              <a:fillRect l="-9145" t="-12664" r="-11674" b="-15665"/>
            </a:stretch>
          </a:blipFill>
        </p:spPr>
        <p:txBody>
          <a:bodyPr/>
          <a:lstStyle/>
          <a:p>
            <a:endParaRPr lang="ar-EG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173814" y="0"/>
            <a:ext cx="18198877" cy="10463718"/>
            <a:chOff x="0" y="0"/>
            <a:chExt cx="24265170" cy="1395162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>
              <a:alphaModFix amt="95000"/>
            </a:blip>
            <a:srcRect t="6850" b="6850"/>
            <a:stretch>
              <a:fillRect/>
            </a:stretch>
          </p:blipFill>
          <p:spPr>
            <a:xfrm>
              <a:off x="0" y="0"/>
              <a:ext cx="24265170" cy="13951624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-6999233" y="0"/>
            <a:ext cx="23171705" cy="11705204"/>
            <a:chOff x="0" y="0"/>
            <a:chExt cx="6102836" cy="308285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102836" cy="3082852"/>
            </a:xfrm>
            <a:custGeom>
              <a:avLst/>
              <a:gdLst/>
              <a:ahLst/>
              <a:cxnLst/>
              <a:rect l="l" t="t" r="r" b="b"/>
              <a:pathLst>
                <a:path w="6102836" h="3082852">
                  <a:moveTo>
                    <a:pt x="3051418" y="3082852"/>
                  </a:moveTo>
                  <a:lnTo>
                    <a:pt x="6102836" y="0"/>
                  </a:lnTo>
                  <a:lnTo>
                    <a:pt x="0" y="0"/>
                  </a:lnTo>
                  <a:lnTo>
                    <a:pt x="3051418" y="308285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3568" y="96379"/>
              <a:ext cx="4195700" cy="15551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5400000">
            <a:off x="14838333" y="6490576"/>
            <a:ext cx="2315586" cy="7946284"/>
            <a:chOff x="0" y="0"/>
            <a:chExt cx="583389" cy="200198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5400000">
            <a:off x="7983036" y="5159778"/>
            <a:ext cx="2315586" cy="11369879"/>
            <a:chOff x="0" y="0"/>
            <a:chExt cx="583389" cy="28645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83389" cy="2864527"/>
            </a:xfrm>
            <a:custGeom>
              <a:avLst/>
              <a:gdLst/>
              <a:ahLst/>
              <a:cxnLst/>
              <a:rect l="l" t="t" r="r" b="b"/>
              <a:pathLst>
                <a:path w="583389" h="286452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2626402"/>
                  </a:lnTo>
                  <a:lnTo>
                    <a:pt x="345264" y="2864527"/>
                  </a:lnTo>
                  <a:lnTo>
                    <a:pt x="238125" y="2864527"/>
                  </a:lnTo>
                  <a:lnTo>
                    <a:pt x="0" y="262640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00" y="-60325"/>
              <a:ext cx="456389" cy="28613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5400000">
            <a:off x="-1038225" y="2085424"/>
            <a:ext cx="2198673" cy="857039"/>
            <a:chOff x="0" y="0"/>
            <a:chExt cx="1824533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5400000">
            <a:off x="352637" y="-3973142"/>
            <a:ext cx="2315586" cy="7946284"/>
            <a:chOff x="0" y="0"/>
            <a:chExt cx="583389" cy="20019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 rot="5400000">
            <a:off x="9185602" y="-6776788"/>
            <a:ext cx="2315586" cy="12533390"/>
            <a:chOff x="0" y="0"/>
            <a:chExt cx="583389" cy="315766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83389" cy="3157662"/>
            </a:xfrm>
            <a:custGeom>
              <a:avLst/>
              <a:gdLst/>
              <a:ahLst/>
              <a:cxnLst/>
              <a:rect l="l" t="t" r="r" b="b"/>
              <a:pathLst>
                <a:path w="583389" h="3157662">
                  <a:moveTo>
                    <a:pt x="345264" y="0"/>
                  </a:moveTo>
                  <a:lnTo>
                    <a:pt x="583389" y="238125"/>
                  </a:lnTo>
                  <a:lnTo>
                    <a:pt x="583389" y="2919537"/>
                  </a:lnTo>
                  <a:lnTo>
                    <a:pt x="345264" y="3157662"/>
                  </a:lnTo>
                  <a:lnTo>
                    <a:pt x="238125" y="3157662"/>
                  </a:lnTo>
                  <a:lnTo>
                    <a:pt x="0" y="2919537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500" y="-60325"/>
              <a:ext cx="456389" cy="31544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700" y="1814657"/>
            <a:ext cx="8149471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 Statement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4176222"/>
            <a:ext cx="9079902" cy="2586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Investors face</a:t>
            </a:r>
            <a:r>
              <a:rPr lang="en-US" sz="2299" b="1" spc="68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"Information Overload"</a:t>
            </a: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and conflicting marketing claims. There is a lack of an objective, </a:t>
            </a:r>
            <a:r>
              <a:rPr lang="en-US" sz="2299" b="1" spc="68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data-backed tool</a:t>
            </a: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to measure the real Return on Investment while considering economic factors like inflation and currency devaluation.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6" name="Group 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28700" y="3463877"/>
          <a:ext cx="16230600" cy="6081251"/>
        </p:xfrm>
        <a:graphic>
          <a:graphicData uri="http://schemas.openxmlformats.org/drawingml/2006/table">
            <a:tbl>
              <a:tblPr/>
              <a:tblGrid>
                <a:gridCol w="2877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6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1036"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Source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Format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3324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Dubbizle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https://www.dubizzle.com.eg/en/new-cairo/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https://www.dubizzle.com.eg/en/new-capital-city/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CSV/XLSX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4860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PropertyFinder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https://www.propertyfinder.eg/en/search?l=2255&amp;c=1&amp;fu=0&amp;ob=mr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https://www.propertyfinder.eg/en/search?l=40470&amp;c=1&amp;fu=0&amp;ob=mr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XLSX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203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Kaggle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https://www.kaggle.com/datasets/hassankhaled21/egyptian-real-estate-listings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https://www.kaggle.com/datasets/mohamedebrahim88/greater-cairo-real-estate-prices-dataset</a:t>
                      </a:r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https://www.kaggle.com/datasets/iyadelwy/egypt-housing-prices</a:t>
                      </a:r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https://www.kaggle.com/datasets/mohammedaltet/egypt-houses-price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CSV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4" name="Group 14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3" name="TextBox 23"/>
          <p:cNvSpPr txBox="1"/>
          <p:nvPr/>
        </p:nvSpPr>
        <p:spPr>
          <a:xfrm>
            <a:off x="1028700" y="1590697"/>
            <a:ext cx="5580305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Sources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6" name="Group 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940400" y="3479792"/>
          <a:ext cx="16318900" cy="5778509"/>
        </p:xfrm>
        <a:graphic>
          <a:graphicData uri="http://schemas.openxmlformats.org/drawingml/2006/table">
            <a:tbl>
              <a:tblPr/>
              <a:tblGrid>
                <a:gridCol w="2959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2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8968"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Source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Format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7899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CAPMAS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https://www.capmas.gov.eg/data/mainSubject/1/subSubject/18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082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World Bank Group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https://www.worldbank.org/ext/en/home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82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Central Bank of Egypt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https://www.cbe.org.eg/en/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4" name="Group 14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3" name="TextBox 23"/>
          <p:cNvSpPr txBox="1"/>
          <p:nvPr/>
        </p:nvSpPr>
        <p:spPr>
          <a:xfrm>
            <a:off x="1028700" y="1590697"/>
            <a:ext cx="6743700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0" name="Group 10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700" y="1682259"/>
            <a:ext cx="7422551" cy="997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97"/>
              </a:lnSpc>
              <a:spcBef>
                <a:spcPct val="0"/>
              </a:spcBef>
            </a:pPr>
            <a:r>
              <a:rPr lang="en-US" sz="556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Questions to answer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1525" y="3075962"/>
            <a:ext cx="15782859" cy="654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Market Valuation &amp; Pricing: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What is the specific price disparity between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New Cairo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and the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New Administrative Capital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and how does the price per square meter reflect the investment value in each?</a:t>
            </a:r>
          </a:p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Supply &amp; Inventory Composition: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Which property types dominate the current listings, and how is the inventory distributed between the two cities in terms of volume and unit variety?</a:t>
            </a:r>
          </a:p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Delivery &amp; Finishing Readiness: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What is the timeline for property availability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(Ready to Move vs. Future Delivery)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and what level of finishing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(e.g., Super Lux vs. Core &amp; Shell)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characterizes the majority of the current supply?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748549" y="-448599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4450617"/>
            <a:ext cx="18288000" cy="0"/>
          </a:xfrm>
          <a:prstGeom prst="line">
            <a:avLst/>
          </a:prstGeom>
          <a:ln w="85725" cap="flat">
            <a:solidFill>
              <a:srgbClr val="034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6" name="Group 6"/>
          <p:cNvGrpSpPr/>
          <p:nvPr/>
        </p:nvGrpSpPr>
        <p:grpSpPr>
          <a:xfrm>
            <a:off x="1028700" y="3508240"/>
            <a:ext cx="4817217" cy="2008580"/>
            <a:chOff x="0" y="0"/>
            <a:chExt cx="6422955" cy="2678107"/>
          </a:xfrm>
        </p:grpSpPr>
        <p:grpSp>
          <p:nvGrpSpPr>
            <p:cNvPr id="7" name="Group 7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Sourcing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4909" y="1843717"/>
              <a:ext cx="3893138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Collecting data from their sources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735392" y="3508240"/>
            <a:ext cx="4817217" cy="2008580"/>
            <a:chOff x="0" y="0"/>
            <a:chExt cx="6422955" cy="2678107"/>
          </a:xfrm>
        </p:grpSpPr>
        <p:grpSp>
          <p:nvGrpSpPr>
            <p:cNvPr id="13" name="Group 13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Cleaning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17821" y="1843717"/>
              <a:ext cx="5387313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 u="none" strike="noStrike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Fixing problems with the data coming from their source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442083" y="3508240"/>
            <a:ext cx="4817217" cy="2322905"/>
            <a:chOff x="0" y="0"/>
            <a:chExt cx="6422955" cy="3097207"/>
          </a:xfrm>
        </p:grpSpPr>
        <p:grpSp>
          <p:nvGrpSpPr>
            <p:cNvPr id="19" name="Group 19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Modeling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3241" y="1843717"/>
              <a:ext cx="4436474" cy="12534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Making relations between different tables using STAR schema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 rot="5400000">
            <a:off x="7594045" y="-4805765"/>
            <a:ext cx="2315586" cy="7946284"/>
            <a:chOff x="0" y="0"/>
            <a:chExt cx="583389" cy="200198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33" name="AutoShape 33"/>
          <p:cNvSpPr/>
          <p:nvPr/>
        </p:nvSpPr>
        <p:spPr>
          <a:xfrm>
            <a:off x="0" y="7658238"/>
            <a:ext cx="18288000" cy="0"/>
          </a:xfrm>
          <a:prstGeom prst="line">
            <a:avLst/>
          </a:prstGeom>
          <a:ln w="85725" cap="flat">
            <a:solidFill>
              <a:srgbClr val="034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34" name="Group 34"/>
          <p:cNvGrpSpPr/>
          <p:nvPr/>
        </p:nvGrpSpPr>
        <p:grpSpPr>
          <a:xfrm>
            <a:off x="1028700" y="6723122"/>
            <a:ext cx="4817217" cy="2008580"/>
            <a:chOff x="0" y="0"/>
            <a:chExt cx="6422955" cy="2678107"/>
          </a:xfrm>
        </p:grpSpPr>
        <p:grpSp>
          <p:nvGrpSpPr>
            <p:cNvPr id="35" name="Group 35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DAX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9489" y="1843717"/>
              <a:ext cx="4843977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Performing DAX calculations using formulas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35392" y="6723122"/>
            <a:ext cx="4817217" cy="2008580"/>
            <a:chOff x="0" y="0"/>
            <a:chExt cx="6422955" cy="2678107"/>
          </a:xfrm>
        </p:grpSpPr>
        <p:grpSp>
          <p:nvGrpSpPr>
            <p:cNvPr id="41" name="Group 41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Sample Visual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378104" y="1843717"/>
              <a:ext cx="3666747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Explaining what some visuals are used for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442083" y="6665972"/>
            <a:ext cx="4817217" cy="2046684"/>
            <a:chOff x="0" y="-76200"/>
            <a:chExt cx="6422955" cy="2728912"/>
          </a:xfrm>
        </p:grpSpPr>
        <p:grpSp>
          <p:nvGrpSpPr>
            <p:cNvPr id="47" name="Group 47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50" name="TextBox 50"/>
            <p:cNvSpPr txBox="1"/>
            <p:nvPr/>
          </p:nvSpPr>
          <p:spPr>
            <a:xfrm>
              <a:off x="0" y="-76200"/>
              <a:ext cx="6422955" cy="6821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 dirty="0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Reports &amp; Dashboards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1818322"/>
              <a:ext cx="6270235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Delivering 5 Reports +</a:t>
              </a:r>
            </a:p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1 Big Summary Dashboard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45380" y="4205344"/>
            <a:ext cx="490548" cy="490548"/>
            <a:chOff x="0" y="0"/>
            <a:chExt cx="406400" cy="4064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5159498" y="1131236"/>
            <a:ext cx="8404101" cy="12299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</a:pPr>
            <a:r>
              <a:rPr lang="en-US" sz="72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Workflow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96819" y="2423659"/>
            <a:ext cx="4894362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spc="68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steps we’re following during our project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6388936" y="4205344"/>
            <a:ext cx="490548" cy="490548"/>
            <a:chOff x="0" y="0"/>
            <a:chExt cx="406400" cy="4064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657758" y="7412965"/>
            <a:ext cx="490548" cy="490548"/>
            <a:chOff x="0" y="0"/>
            <a:chExt cx="406400" cy="4064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2001314" y="7412965"/>
            <a:ext cx="490548" cy="490548"/>
            <a:chOff x="0" y="0"/>
            <a:chExt cx="406400" cy="406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112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8" name="Freeform 18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</a:blip>
            <a:stretch>
              <a:fillRect l="-45112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9" name="TextBox 19"/>
          <p:cNvSpPr txBox="1"/>
          <p:nvPr/>
        </p:nvSpPr>
        <p:spPr>
          <a:xfrm>
            <a:off x="1094170" y="532226"/>
            <a:ext cx="6089303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966100" y="5086350"/>
            <a:ext cx="1916050" cy="3690440"/>
            <a:chOff x="0" y="0"/>
            <a:chExt cx="2554733" cy="4920587"/>
          </a:xfrm>
        </p:grpSpPr>
        <p:sp>
          <p:nvSpPr>
            <p:cNvPr id="24" name="AutoShape 24"/>
            <p:cNvSpPr/>
            <p:nvPr/>
          </p:nvSpPr>
          <p:spPr>
            <a:xfrm flipV="1">
              <a:off x="42" y="50800"/>
              <a:ext cx="2554649" cy="2124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42" y="4723110"/>
              <a:ext cx="2554649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42" y="50524"/>
              <a:ext cx="0" cy="4672586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03891" y="52636"/>
              <a:ext cx="0" cy="486795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-45112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5112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grpSp>
        <p:nvGrpSpPr>
          <p:cNvPr id="16" name="Group 16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4170" y="532226"/>
            <a:ext cx="608957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5861466" y="4952038"/>
            <a:ext cx="1916053" cy="3853005"/>
            <a:chOff x="0" y="0"/>
            <a:chExt cx="2554737" cy="5137340"/>
          </a:xfrm>
        </p:grpSpPr>
        <p:sp>
          <p:nvSpPr>
            <p:cNvPr id="24" name="AutoShape 24"/>
            <p:cNvSpPr/>
            <p:nvPr/>
          </p:nvSpPr>
          <p:spPr>
            <a:xfrm flipV="1">
              <a:off x="44" y="50800"/>
              <a:ext cx="2554649" cy="2219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44" y="4931074"/>
              <a:ext cx="2554649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44" y="50512"/>
              <a:ext cx="0" cy="488056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03893" y="52718"/>
              <a:ext cx="0" cy="508462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77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</a:blip>
            <a:stretch>
              <a:fillRect l="-10129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6" name="TextBox 16"/>
          <p:cNvSpPr txBox="1"/>
          <p:nvPr/>
        </p:nvSpPr>
        <p:spPr>
          <a:xfrm>
            <a:off x="1094170" y="532226"/>
            <a:ext cx="6089650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3" name="AutoShape 23"/>
          <p:cNvSpPr/>
          <p:nvPr/>
        </p:nvSpPr>
        <p:spPr>
          <a:xfrm flipV="1">
            <a:off x="7429009" y="4738630"/>
            <a:ext cx="1453084" cy="1817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4" name="AutoShape 24"/>
          <p:cNvSpPr/>
          <p:nvPr/>
        </p:nvSpPr>
        <p:spPr>
          <a:xfrm>
            <a:off x="7429009" y="8735700"/>
            <a:ext cx="1453084" cy="0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5" name="AutoShape 25"/>
          <p:cNvSpPr/>
          <p:nvPr/>
        </p:nvSpPr>
        <p:spPr>
          <a:xfrm>
            <a:off x="7457904" y="4738394"/>
            <a:ext cx="0" cy="3997306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6" name="AutoShape 26"/>
          <p:cNvSpPr/>
          <p:nvPr/>
        </p:nvSpPr>
        <p:spPr>
          <a:xfrm flipH="1">
            <a:off x="8853198" y="4740201"/>
            <a:ext cx="0" cy="4064842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-10777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129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6" name="TextBox 16"/>
          <p:cNvSpPr txBox="1"/>
          <p:nvPr/>
        </p:nvSpPr>
        <p:spPr>
          <a:xfrm>
            <a:off x="1094170" y="532226"/>
            <a:ext cx="6089303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244740" y="4952038"/>
            <a:ext cx="1540528" cy="3853005"/>
            <a:chOff x="0" y="0"/>
            <a:chExt cx="2054038" cy="5137340"/>
          </a:xfrm>
        </p:grpSpPr>
        <p:sp>
          <p:nvSpPr>
            <p:cNvPr id="24" name="AutoShape 24"/>
            <p:cNvSpPr/>
            <p:nvPr/>
          </p:nvSpPr>
          <p:spPr>
            <a:xfrm flipV="1">
              <a:off x="10367" y="50800"/>
              <a:ext cx="2033304" cy="2219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10367" y="4931074"/>
              <a:ext cx="2033304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00" y="50512"/>
              <a:ext cx="0" cy="488056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003238" y="52718"/>
              <a:ext cx="0" cy="508462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018389" y="-3308771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59" y="0"/>
                </a:lnTo>
                <a:lnTo>
                  <a:pt x="5968959" y="5665085"/>
                </a:lnTo>
                <a:lnTo>
                  <a:pt x="0" y="5665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Freeform 6"/>
          <p:cNvSpPr/>
          <p:nvPr/>
        </p:nvSpPr>
        <p:spPr>
          <a:xfrm>
            <a:off x="2041785" y="1993894"/>
            <a:ext cx="14204430" cy="7264406"/>
          </a:xfrm>
          <a:custGeom>
            <a:avLst/>
            <a:gdLst/>
            <a:ahLst/>
            <a:cxnLst/>
            <a:rect l="l" t="t" r="r" b="b"/>
            <a:pathLst>
              <a:path w="14204430" h="7264406">
                <a:moveTo>
                  <a:pt x="0" y="0"/>
                </a:moveTo>
                <a:lnTo>
                  <a:pt x="14204430" y="0"/>
                </a:lnTo>
                <a:lnTo>
                  <a:pt x="14204430" y="7264406"/>
                </a:lnTo>
                <a:lnTo>
                  <a:pt x="0" y="72644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194" b="-1194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7" name="TextBox 7"/>
          <p:cNvSpPr txBox="1"/>
          <p:nvPr/>
        </p:nvSpPr>
        <p:spPr>
          <a:xfrm>
            <a:off x="1028700" y="415124"/>
            <a:ext cx="6187529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Modeling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Freeform 6"/>
          <p:cNvSpPr/>
          <p:nvPr/>
        </p:nvSpPr>
        <p:spPr>
          <a:xfrm>
            <a:off x="664189" y="3080207"/>
            <a:ext cx="13296895" cy="1319968"/>
          </a:xfrm>
          <a:custGeom>
            <a:avLst/>
            <a:gdLst/>
            <a:ahLst/>
            <a:cxnLst/>
            <a:rect l="l" t="t" r="r" b="b"/>
            <a:pathLst>
              <a:path w="13296895" h="1319968">
                <a:moveTo>
                  <a:pt x="0" y="0"/>
                </a:moveTo>
                <a:lnTo>
                  <a:pt x="13296895" y="0"/>
                </a:lnTo>
                <a:lnTo>
                  <a:pt x="13296895" y="1319968"/>
                </a:lnTo>
                <a:lnTo>
                  <a:pt x="0" y="1319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4190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7" name="Freeform 7"/>
          <p:cNvSpPr/>
          <p:nvPr/>
        </p:nvSpPr>
        <p:spPr>
          <a:xfrm>
            <a:off x="664189" y="4727829"/>
            <a:ext cx="13296895" cy="390131"/>
          </a:xfrm>
          <a:custGeom>
            <a:avLst/>
            <a:gdLst/>
            <a:ahLst/>
            <a:cxnLst/>
            <a:rect l="l" t="t" r="r" b="b"/>
            <a:pathLst>
              <a:path w="13296895" h="390131">
                <a:moveTo>
                  <a:pt x="0" y="0"/>
                </a:moveTo>
                <a:lnTo>
                  <a:pt x="13296895" y="0"/>
                </a:lnTo>
                <a:lnTo>
                  <a:pt x="13296895" y="390131"/>
                </a:lnTo>
                <a:lnTo>
                  <a:pt x="0" y="3901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55393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8" name="Freeform 8"/>
          <p:cNvSpPr/>
          <p:nvPr/>
        </p:nvSpPr>
        <p:spPr>
          <a:xfrm>
            <a:off x="664189" y="7683291"/>
            <a:ext cx="13296895" cy="1939254"/>
          </a:xfrm>
          <a:custGeom>
            <a:avLst/>
            <a:gdLst/>
            <a:ahLst/>
            <a:cxnLst/>
            <a:rect l="l" t="t" r="r" b="b"/>
            <a:pathLst>
              <a:path w="13296895" h="1939254">
                <a:moveTo>
                  <a:pt x="0" y="0"/>
                </a:moveTo>
                <a:lnTo>
                  <a:pt x="13296895" y="0"/>
                </a:lnTo>
                <a:lnTo>
                  <a:pt x="13296895" y="1939254"/>
                </a:lnTo>
                <a:lnTo>
                  <a:pt x="0" y="1939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27434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9" name="Freeform 9"/>
          <p:cNvSpPr/>
          <p:nvPr/>
        </p:nvSpPr>
        <p:spPr>
          <a:xfrm>
            <a:off x="664189" y="5398570"/>
            <a:ext cx="13296895" cy="2008266"/>
          </a:xfrm>
          <a:custGeom>
            <a:avLst/>
            <a:gdLst/>
            <a:ahLst/>
            <a:cxnLst/>
            <a:rect l="l" t="t" r="r" b="b"/>
            <a:pathLst>
              <a:path w="13296895" h="2008266">
                <a:moveTo>
                  <a:pt x="0" y="0"/>
                </a:moveTo>
                <a:lnTo>
                  <a:pt x="13296895" y="0"/>
                </a:lnTo>
                <a:lnTo>
                  <a:pt x="13296895" y="2008266"/>
                </a:lnTo>
                <a:lnTo>
                  <a:pt x="0" y="2008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28467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0" name="Freeform 10"/>
          <p:cNvSpPr/>
          <p:nvPr/>
        </p:nvSpPr>
        <p:spPr>
          <a:xfrm>
            <a:off x="14322928" y="1960074"/>
            <a:ext cx="2784437" cy="7662471"/>
          </a:xfrm>
          <a:custGeom>
            <a:avLst/>
            <a:gdLst/>
            <a:ahLst/>
            <a:cxnLst/>
            <a:rect l="l" t="t" r="r" b="b"/>
            <a:pathLst>
              <a:path w="2784437" h="7662471">
                <a:moveTo>
                  <a:pt x="0" y="0"/>
                </a:moveTo>
                <a:lnTo>
                  <a:pt x="2784438" y="0"/>
                </a:lnTo>
                <a:lnTo>
                  <a:pt x="2784438" y="7662471"/>
                </a:lnTo>
                <a:lnTo>
                  <a:pt x="0" y="76624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b="-71005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1" name="TextBox 11"/>
          <p:cNvSpPr txBox="1"/>
          <p:nvPr/>
        </p:nvSpPr>
        <p:spPr>
          <a:xfrm>
            <a:off x="1028700" y="1836249"/>
            <a:ext cx="13075153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 formula language in Power BI used to create custom calculations, measures, and calculated columns for advanced data analysis, modeling, and dynamic reporting.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15124"/>
            <a:ext cx="1798737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TextBox 6"/>
          <p:cNvSpPr txBox="1"/>
          <p:nvPr/>
        </p:nvSpPr>
        <p:spPr>
          <a:xfrm>
            <a:off x="1028700" y="415124"/>
            <a:ext cx="609719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Sample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52826" y="250294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charts are used to perform side-by-side comparisons between multiple data series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across distinct categories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They are designed to highlight differences and variances between groups, making it easy to identify trends and compare individual values directly within a single view.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792" y="1415653"/>
            <a:ext cx="5236890" cy="4164254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614500" y="5067300"/>
            <a:ext cx="2327473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Clustered Bar Chart 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572" y="5808011"/>
            <a:ext cx="4343328" cy="4028497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3093726" y="9512572"/>
            <a:ext cx="1369020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Donut Chart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52826" y="661774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visuals are ideal for representing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"part-to-whole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"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relationships and illustrating categorical proportions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By focusing on the arc length, they allow the viewer to quickly understand the distribution of a total amount among various segments and evaluate the relative weight of each category.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TextBox 6"/>
          <p:cNvSpPr txBox="1"/>
          <p:nvPr/>
        </p:nvSpPr>
        <p:spPr>
          <a:xfrm>
            <a:off x="990600" y="478584"/>
            <a:ext cx="609719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Sample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348051" y="244579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charts are used to visualize the internal composition of a total value by breaking it down into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sub-categories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They provide a clear view of how different components contribute to the overall sum, while still allowing for a primary comparison of total volumes across different data points.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33574" y="5067300"/>
            <a:ext cx="2689324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Stacked Column Charts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09961" y="9479280"/>
            <a:ext cx="1136551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Treemaps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348051" y="6432116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Treemaps are used to display large sets of hierarchical data through nested rectangles of varying sizes. This visual is effective for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ranking categories and identifying dominant patterns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within complex datasets, where the area of each rectangle is proportional to the value it represents.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526" y="1488658"/>
            <a:ext cx="4725421" cy="3991477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898" y="5880790"/>
            <a:ext cx="4936961" cy="38956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920186" y="-4565748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5"/>
                </a:lnTo>
                <a:lnTo>
                  <a:pt x="0" y="5665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7" name="TextBox 7"/>
          <p:cNvSpPr txBox="1"/>
          <p:nvPr/>
        </p:nvSpPr>
        <p:spPr>
          <a:xfrm>
            <a:off x="965299" y="599010"/>
            <a:ext cx="8178701" cy="938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Reports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6" name="Add-in" descr="Add-in content for Microsoft Power BI.">
                <a:extLst>
                  <a:ext uri="{FF2B5EF4-FFF2-40B4-BE49-F238E27FC236}">
                    <a16:creationId xmlns:a16="http://schemas.microsoft.com/office/drawing/2014/main" id="{B067B31F-A5EC-7979-7E2C-3552A36B34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330471"/>
                  </p:ext>
                </p:extLst>
              </p:nvPr>
            </p:nvGraphicFramePr>
            <p:xfrm>
              <a:off x="1600200" y="1855131"/>
              <a:ext cx="14478000" cy="783285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6" name="Add-in" descr="Add-in content for Microsoft Power BI.">
                <a:extLst>
                  <a:ext uri="{FF2B5EF4-FFF2-40B4-BE49-F238E27FC236}">
                    <a16:creationId xmlns:a16="http://schemas.microsoft.com/office/drawing/2014/main" id="{B067B31F-A5EC-7979-7E2C-3552A36B34D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00200" y="1855131"/>
                <a:ext cx="14478000" cy="7832859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3" name="Group 3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12" name="TextBox 12"/>
          <p:cNvSpPr txBox="1"/>
          <p:nvPr/>
        </p:nvSpPr>
        <p:spPr>
          <a:xfrm>
            <a:off x="4154446" y="653361"/>
            <a:ext cx="10756216" cy="997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97"/>
              </a:lnSpc>
              <a:spcBef>
                <a:spcPct val="0"/>
              </a:spcBef>
            </a:pPr>
            <a:r>
              <a:rPr lang="en-US" sz="556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 &amp; Insights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088328"/>
            <a:ext cx="15416602" cy="625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Egyptian real estate market is large, dynamic, and highly active, yet it follows clear and consistent patterns rather than randomness.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Market demand is primarily driven by families, as reflected in the dominance of medium-to-large units and 3-bedroom properties.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Pricing is not fixed; it is shaped by the interaction of multiple factors, including location, property specifications, and market supply.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continuous increase in listings over time reflects a rapidly expanding and evolving real estate market.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dominance of unfurnished units highlights buyers’ preference for flexibility and customization.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6785" y="8717776"/>
            <a:ext cx="14168385" cy="995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02"/>
              </a:lnSpc>
              <a:spcBef>
                <a:spcPct val="0"/>
              </a:spcBef>
            </a:pPr>
            <a:r>
              <a:rPr lang="en-US" sz="2787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Ultimately, successful real estate decisions are not based on a single metric, but on a comprehensive understanding of the entire market landscape.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9607541" y="2243860"/>
            <a:ext cx="3575375" cy="5018231"/>
            <a:chOff x="0" y="0"/>
            <a:chExt cx="1111329" cy="15598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1329" cy="1559810"/>
            </a:xfrm>
            <a:custGeom>
              <a:avLst/>
              <a:gdLst/>
              <a:ahLst/>
              <a:cxnLst/>
              <a:rect l="l" t="t" r="r" b="b"/>
              <a:pathLst>
                <a:path w="1111329" h="1559810">
                  <a:moveTo>
                    <a:pt x="873204" y="0"/>
                  </a:moveTo>
                  <a:lnTo>
                    <a:pt x="1111329" y="238125"/>
                  </a:lnTo>
                  <a:lnTo>
                    <a:pt x="1111329" y="1321685"/>
                  </a:lnTo>
                  <a:lnTo>
                    <a:pt x="873204" y="1559810"/>
                  </a:lnTo>
                  <a:lnTo>
                    <a:pt x="238125" y="1559810"/>
                  </a:lnTo>
                  <a:lnTo>
                    <a:pt x="0" y="132168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7320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984329" cy="1556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3163879" y="1585228"/>
            <a:ext cx="2927675" cy="3065606"/>
            <a:chOff x="0" y="0"/>
            <a:chExt cx="910005" cy="9528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10005" cy="952878"/>
            </a:xfrm>
            <a:custGeom>
              <a:avLst/>
              <a:gdLst/>
              <a:ahLst/>
              <a:cxnLst/>
              <a:rect l="l" t="t" r="r" b="b"/>
              <a:pathLst>
                <a:path w="910005" h="952878">
                  <a:moveTo>
                    <a:pt x="671880" y="0"/>
                  </a:moveTo>
                  <a:lnTo>
                    <a:pt x="910005" y="238125"/>
                  </a:lnTo>
                  <a:lnTo>
                    <a:pt x="910005" y="714753"/>
                  </a:lnTo>
                  <a:lnTo>
                    <a:pt x="671880" y="952878"/>
                  </a:lnTo>
                  <a:lnTo>
                    <a:pt x="238125" y="952878"/>
                  </a:lnTo>
                  <a:lnTo>
                    <a:pt x="0" y="71475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71880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783005" cy="9497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13216653" y="5686105"/>
            <a:ext cx="2927675" cy="3065606"/>
            <a:chOff x="0" y="0"/>
            <a:chExt cx="910005" cy="9528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0005" cy="952878"/>
            </a:xfrm>
            <a:custGeom>
              <a:avLst/>
              <a:gdLst/>
              <a:ahLst/>
              <a:cxnLst/>
              <a:rect l="l" t="t" r="r" b="b"/>
              <a:pathLst>
                <a:path w="910005" h="952878">
                  <a:moveTo>
                    <a:pt x="671880" y="0"/>
                  </a:moveTo>
                  <a:lnTo>
                    <a:pt x="910005" y="238125"/>
                  </a:lnTo>
                  <a:lnTo>
                    <a:pt x="910005" y="714753"/>
                  </a:lnTo>
                  <a:lnTo>
                    <a:pt x="671880" y="952878"/>
                  </a:lnTo>
                  <a:lnTo>
                    <a:pt x="238125" y="952878"/>
                  </a:lnTo>
                  <a:lnTo>
                    <a:pt x="0" y="71475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71880" y="0"/>
                  </a:lnTo>
                  <a:close/>
                </a:path>
              </a:pathLst>
            </a:custGeom>
            <a:solidFill>
              <a:srgbClr val="002C66">
                <a:alpha val="69804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783005" cy="9497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4949514" y="2614420"/>
            <a:ext cx="3575375" cy="5839209"/>
            <a:chOff x="0" y="0"/>
            <a:chExt cx="1111329" cy="181499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1329" cy="1814993"/>
            </a:xfrm>
            <a:custGeom>
              <a:avLst/>
              <a:gdLst/>
              <a:ahLst/>
              <a:cxnLst/>
              <a:rect l="l" t="t" r="r" b="b"/>
              <a:pathLst>
                <a:path w="1111329" h="1814993">
                  <a:moveTo>
                    <a:pt x="873204" y="0"/>
                  </a:moveTo>
                  <a:lnTo>
                    <a:pt x="1111329" y="238125"/>
                  </a:lnTo>
                  <a:lnTo>
                    <a:pt x="1111329" y="1576868"/>
                  </a:lnTo>
                  <a:lnTo>
                    <a:pt x="873204" y="1814993"/>
                  </a:lnTo>
                  <a:lnTo>
                    <a:pt x="238125" y="1814993"/>
                  </a:lnTo>
                  <a:lnTo>
                    <a:pt x="0" y="15768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73204" y="0"/>
                  </a:lnTo>
                  <a:close/>
                </a:path>
              </a:pathLst>
            </a:custGeom>
            <a:solidFill>
              <a:srgbClr val="002C66">
                <a:alpha val="82745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984329" cy="18118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3211504" y="6424072"/>
            <a:ext cx="2641925" cy="2875106"/>
            <a:chOff x="0" y="0"/>
            <a:chExt cx="821186" cy="8936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1186" cy="893665"/>
            </a:xfrm>
            <a:custGeom>
              <a:avLst/>
              <a:gdLst/>
              <a:ahLst/>
              <a:cxnLst/>
              <a:rect l="l" t="t" r="r" b="b"/>
              <a:pathLst>
                <a:path w="821186" h="893665">
                  <a:moveTo>
                    <a:pt x="583061" y="0"/>
                  </a:moveTo>
                  <a:lnTo>
                    <a:pt x="821186" y="238125"/>
                  </a:lnTo>
                  <a:lnTo>
                    <a:pt x="821186" y="655540"/>
                  </a:lnTo>
                  <a:lnTo>
                    <a:pt x="583061" y="893665"/>
                  </a:lnTo>
                  <a:lnTo>
                    <a:pt x="238125" y="893665"/>
                  </a:lnTo>
                  <a:lnTo>
                    <a:pt x="0" y="655540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3061" y="0"/>
                  </a:lnTo>
                  <a:close/>
                </a:path>
              </a:pathLst>
            </a:custGeom>
            <a:solidFill>
              <a:srgbClr val="03459D">
                <a:alpha val="92941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00" y="-60325"/>
              <a:ext cx="694186" cy="890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5400000">
            <a:off x="9773396" y="987822"/>
            <a:ext cx="2641925" cy="2875106"/>
            <a:chOff x="0" y="0"/>
            <a:chExt cx="821186" cy="89366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21186" cy="893665"/>
            </a:xfrm>
            <a:custGeom>
              <a:avLst/>
              <a:gdLst/>
              <a:ahLst/>
              <a:cxnLst/>
              <a:rect l="l" t="t" r="r" b="b"/>
              <a:pathLst>
                <a:path w="821186" h="893665">
                  <a:moveTo>
                    <a:pt x="583061" y="0"/>
                  </a:moveTo>
                  <a:lnTo>
                    <a:pt x="821186" y="238125"/>
                  </a:lnTo>
                  <a:lnTo>
                    <a:pt x="821186" y="655540"/>
                  </a:lnTo>
                  <a:lnTo>
                    <a:pt x="583061" y="893665"/>
                  </a:lnTo>
                  <a:lnTo>
                    <a:pt x="238125" y="893665"/>
                  </a:lnTo>
                  <a:lnTo>
                    <a:pt x="0" y="655540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3061" y="0"/>
                  </a:lnTo>
                  <a:close/>
                </a:path>
              </a:pathLst>
            </a:custGeom>
            <a:solidFill>
              <a:srgbClr val="002C66">
                <a:alpha val="88627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500" y="-60325"/>
              <a:ext cx="694186" cy="890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 rot="5400000">
            <a:off x="2213773" y="4396235"/>
            <a:ext cx="1344653" cy="1373018"/>
            <a:chOff x="0" y="0"/>
            <a:chExt cx="1064189" cy="108663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 rot="5400000">
            <a:off x="7662073" y="2154953"/>
            <a:ext cx="1344653" cy="1373018"/>
            <a:chOff x="0" y="0"/>
            <a:chExt cx="1064189" cy="108663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 rot="5400000">
            <a:off x="13321655" y="1759195"/>
            <a:ext cx="1344653" cy="1373018"/>
            <a:chOff x="0" y="0"/>
            <a:chExt cx="1064189" cy="108663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 rot="5400000">
            <a:off x="14171997" y="3617611"/>
            <a:ext cx="1896411" cy="1936416"/>
            <a:chOff x="0" y="0"/>
            <a:chExt cx="1064189" cy="1086638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297670" y="4506400"/>
            <a:ext cx="8090038" cy="14529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11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webextension1.xml><?xml version="1.0" encoding="utf-8"?>
<we:webextension xmlns:we="http://schemas.microsoft.com/office/webextensions/webextension/2010/11" id="{C820C1F3-5C5C-4474-AC10-7E3878BACB7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6VVTW/bMAz9K4PPwUDqW7t1w05dP7AOvRTFQFF04dWJA9sp2hX975OSAr20COBdbImm3nukSPO5yd207enpnNbSfGm+DsP9msb7T9isms2r7eLi9Ozk5+nv85Oz78U8bOdu2EzNl+dmpvFO5utu2lFfEYrx5nbVUN9f0l3dtdRPsmq2Mk7Dhvrurxycy6d53MnLqpHHbT+MVCGvZpqlwj4U97Iv3PhZF0biuXuQK+H5YPUpxCix1UiaiW1g4OI2HRz2yt51qdB7+m/DZqZuU2iqTeU2M3uQ6DRA8czeVvvUbe76V8FvZ389bWtWunWJsGYj/Sm0FeflpYQTCGIrbetJ2ewwe8qwFCsiK06gnASnnEflSZZieeXZOGmTR405Wa8NL8XKwaQY0ObspWjCbJRZikU5g3MKAHQGLVYl8kux0KYUo7WWgFiBmJQW6zKpFAFoZyEBYLYZl2NBi4CM5NgHLJfgANXiGJ3RGnUgj04LWPJ2ca2ic61CFmvQimPSCMdrYpbHOQ2P71S+BAFvQtKWEIwS0HGpMqtzjMBK0IFmW8pNHa/8D5Wx8a1YLMnSpaEgJR/+Aw2wSmLx7GIWBohCy9FUssq1JtpQ7jMQh+SO18aHaMa19cdHDnwEAzE7u7ibXNYuBcuawUVvOSlcjBVLgM5HZRFVsMAmq8W14Zzl0k8tJCytKZI4h6UZ2wO+WZq1lHlWF8NunrbEckmbsr95brbjUIbY3Mnerwwt2mTJr+uxvn90s4wH6mvqd5V1P/2aPUlR06VejhyoM7HZy7qtj39IeRmtngcAAA==&quot;"/>
    <we:property name="creatorSessionId" value="&quot;8cc895e2-cf6a-4269-9d80-6628e3c42c46&quot;"/>
    <we:property name="creatorTenantId" value="&quot;77255288-5298-4ea5-81aa-a13e604c30ac&quot;"/>
    <we:property name="creatorUserId" value="&quot;100320053ABB8047&quot;"/>
    <we:property name="datasetId" value="&quot;68dbb922-64f0-4db4-a830-f70893ab3a0e&quot;"/>
    <we:property name="embedUrl" value="&quot;/reportEmbed?reportId=f7e03d6a-2cd8-451b-a97f-848154eb9697&amp;config=eyJjbHVzdGVyVXJsIjoiaHR0cHM6Ly9XQUJJLU5PUlRILUVVUk9QRS1PLVBSSU1BUlktcmVkaXJlY3QuYW5hbHlzaXMud2luZG93cy5uZXQiLCJlbWJlZEZlYXR1cmVzIjp7InVzYWdlTWV0cmljc1ZOZXh0Ijp0cnVlfX0%3D&amp;disableSensitivityBanner=true&amp;storytellingChangeViewModeShortcutKeys=true&quot;"/>
    <we:property name="initialStateBookmark" value="&quot;H4sIAAAAAAAAA6VVTW/bMAz9K4PPwUDqW7t1w05dP7AOvRTFQFF04dWJA9sp2hX975OSAr20COBdbImm3nukSPO5yd207enpnNbSfGm+DsP9msb7T9isms2r7eLi9Ozk5+nv85Oz78U8bOdu2EzNl+dmpvFO5utu2lFfEYrx5nbVUN9f0l3dtdRPsmq2Mk7Dhvrurxycy6d53MnLqpHHbT+MVCGvZpqlwj4U97Iv3PhZF0biuXuQK+H5YPUpxCix1UiaiW1g4OI2HRz2yt51qdB7+m/DZqZuU2iqTeU2M3uQ6DRA8czeVvvUbe76V8FvZ389bWtWunWJsGYj/Sm0FeflpYQTCGIrbetJ2ewwe8qwFCsiK06gnASnnEflSZZieeXZOGmTR405Wa8NL8XKwaQY0ObspWjCbJRZikU5g3MKAHQGLVYl8kux0KYUo7WWgFiBmJQW6zKpFAFoZyEBYLYZl2NBi4CM5NgHLJfgANXiGJ3RGnUgj04LWPJ2ca2ic61CFmvQimPSCMdrYpbHOQ2P71S+BAFvQtKWEIwS0HGpMqtzjMBK0IFmW8pNHa/8D5Wx8a1YLMnSpaEgJR/+Aw2wSmLx7GIWBohCy9FUssq1JtpQ7jMQh+SO18aHaMa19cdHDnwEAzE7u7ibXNYuBcuawUVvOSlcjBVLgM5HZRFVsMAmq8W14Zzl0k8tJCytKZI4h6UZ2wO+WZq1lHlWF8NunrbEckmbsr95brbjUIbY3Mnerwwt2mTJr+uxvn90s4wH6mvqd5V1P/2aPUlR06VejhyoM7HZy7qtj39IeRmtngcAAA==&quot;"/>
    <we:property name="isFiltersActionButtonVisible" value="true"/>
    <we:property name="isVisualContainerHeaderHidden" value="false"/>
    <we:property name="pageDisplayName" value="&quot;Homepage&quot;"/>
    <we:property name="pageName" value="&quot;7b899e9f31a3cac58c0c&quot;"/>
    <we:property name="reportEmbeddedTime" value="&quot;2026-04-29T20:01:48.805Z&quot;"/>
    <we:property name="reportName" value="&quot;Depi_Grad 4.1&quot;"/>
    <we:property name="reportState" value="&quot;CONNECTED&quot;"/>
    <we:property name="reportUrl" value="&quot;/groups/me/reports/f7e03d6a-2cd8-451b-a97f-848154eb9697/7b899e9f31a3cac58c0c?bookmarkGuid=fbe551b7-f066-4b87-b394-0e20a77f8430&amp;bookmarkUsage=1&amp;ctid=77255288-5298-4ea5-81aa-a13e604c30ac&amp;fromEntryPoint=export&amp;pbi_source=storytelling_addin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974</Words>
  <Application>Microsoft Office PowerPoint</Application>
  <PresentationFormat>Custom</PresentationFormat>
  <Paragraphs>116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Roboto Condensed Bold</vt:lpstr>
      <vt:lpstr>Calibri</vt:lpstr>
      <vt:lpstr>Poppins Ultra-Bold Italics</vt:lpstr>
      <vt:lpstr>Poppins</vt:lpstr>
      <vt:lpstr>Poppins Bold</vt:lpstr>
      <vt:lpstr>Arial</vt:lpstr>
      <vt:lpstr>Poppins Semi-Bold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Real Estate in Egypt</dc:title>
  <dc:creator>Eng.Ahmed</dc:creator>
  <cp:lastModifiedBy>احمد وائل محمد صفى الدين عبدالقوى</cp:lastModifiedBy>
  <cp:revision>7</cp:revision>
  <dcterms:created xsi:type="dcterms:W3CDTF">2006-08-16T00:00:00Z</dcterms:created>
  <dcterms:modified xsi:type="dcterms:W3CDTF">2026-04-29T21:40:22Z</dcterms:modified>
  <dc:identifier>DAHFoJw5iOc</dc:identifier>
</cp:coreProperties>
</file>